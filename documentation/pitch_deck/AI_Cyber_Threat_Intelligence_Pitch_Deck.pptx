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BB61D6-4CAF-4D86-A168-863B4A9D158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2AB48-5925-4CC3-A575-E383AB6588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1B766D7-68D8-486D-A263-D8DB9465F68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8640">
            <a:solidFill>
              <a:srgbClr val="06111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64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129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194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259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324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388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453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518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583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648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777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842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907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972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1036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1101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1166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0" y="648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0" y="1296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0" y="1944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0" y="2592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0" y="3240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0" y="3888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0" y="4536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0" y="5184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0" y="5832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0" y="6480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20D9FF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396000" y="198000"/>
            <a:ext cx="2232000" cy="23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SENTINEL 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8532000" y="198000"/>
            <a:ext cx="2952000" cy="23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1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PROJECT PITCH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1052000" y="6408000"/>
            <a:ext cx="432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0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01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432000" y="1080000"/>
            <a:ext cx="2340000" cy="259200"/>
          </a:xfrm>
          <a:prstGeom prst="roundRect">
            <a:avLst/>
          </a:prstGeom>
          <a:solidFill>
            <a:srgbClr val="10263A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486000" y="1126800"/>
            <a:ext cx="2232000" cy="136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0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AI-POWERED SECURITY OPERATIONS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32000" y="1602000"/>
            <a:ext cx="7740000" cy="115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38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AI Cyber Threat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38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Intelligence System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450000" y="2880000"/>
            <a:ext cx="6840000" cy="32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From login signal to automated defense.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9072000" y="1440000"/>
            <a:ext cx="1692000" cy="1692000"/>
          </a:xfrm>
          <a:prstGeom prst="ellipse">
            <a:avLst/>
          </a:prstGeom>
          <a:solidFill>
            <a:srgbClr val="0B2236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9486000" y="1854000"/>
            <a:ext cx="864000" cy="864000"/>
          </a:xfrm>
          <a:prstGeom prst="ellipse">
            <a:avLst/>
          </a:prstGeom>
          <a:solidFill>
            <a:srgbClr val="06111F"/>
          </a:solidFill>
          <a:ln w="8640">
            <a:solidFill>
              <a:srgbClr val="497B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9630000" y="2088000"/>
            <a:ext cx="576000" cy="32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30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AI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 flipV="1">
            <a:off x="9864000" y="1080000"/>
            <a:ext cx="0" cy="360000"/>
          </a:xfrm>
          <a:prstGeom prst="line">
            <a:avLst/>
          </a:prstGeom>
          <a:ln w="16200">
            <a:solidFill>
              <a:srgbClr val="20D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10764000" y="2286000"/>
            <a:ext cx="648000" cy="0"/>
          </a:xfrm>
          <a:prstGeom prst="line">
            <a:avLst/>
          </a:prstGeom>
          <a:ln w="16200">
            <a:solidFill>
              <a:srgbClr val="20D9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 flipV="1">
            <a:off x="9864000" y="990000"/>
            <a:ext cx="468000" cy="288000"/>
          </a:xfrm>
          <a:prstGeom prst="line">
            <a:avLst/>
          </a:prstGeom>
          <a:ln w="16200">
            <a:solidFill>
              <a:srgbClr val="497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10764000" y="2412000"/>
            <a:ext cx="648000" cy="198000"/>
          </a:xfrm>
          <a:prstGeom prst="line">
            <a:avLst/>
          </a:prstGeom>
          <a:ln w="16200">
            <a:solidFill>
              <a:srgbClr val="497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 flipV="1">
            <a:off x="9864000" y="900000"/>
            <a:ext cx="936000" cy="216000"/>
          </a:xfrm>
          <a:prstGeom prst="line">
            <a:avLst/>
          </a:prstGeom>
          <a:ln w="16200">
            <a:solidFill>
              <a:srgbClr val="39E6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0764000" y="2538000"/>
            <a:ext cx="648000" cy="396000"/>
          </a:xfrm>
          <a:prstGeom prst="line">
            <a:avLst/>
          </a:prstGeom>
          <a:ln w="16200">
            <a:solidFill>
              <a:srgbClr val="39E6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52920" rIns="97920" bIns="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450000" y="5940000"/>
            <a:ext cx="3600000" cy="21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JUDGES' PRESENTATION  •  2026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50000" y="6228000"/>
            <a:ext cx="6120000" cy="21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Secure Login  •  Live SOC  •  Threat AI  •  SOAR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8640">
            <a:solidFill>
              <a:srgbClr val="06111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64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129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194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259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324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388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453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518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583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648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77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842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907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972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1036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1101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1166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0" y="648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0" y="1296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0" y="1944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0" y="2592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0" y="3240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0" y="3888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0" y="4536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0" y="5184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0" y="5832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0" y="6480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20D9FF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396000" y="198000"/>
            <a:ext cx="2232000" cy="23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SENTINEL 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8532000" y="198000"/>
            <a:ext cx="2952000" cy="23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1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THE PROBLEM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1052000" y="6408000"/>
            <a:ext cx="432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0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02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414000" y="630000"/>
            <a:ext cx="10980000" cy="54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30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Security teams see events. They need decisions.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432000" y="1152000"/>
            <a:ext cx="10584000" cy="32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Authentication signals are often scattered across tools, slowing detection and response.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432000" y="1872000"/>
            <a:ext cx="3492000" cy="2772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432000" y="1872000"/>
            <a:ext cx="32400" cy="2772000"/>
          </a:xfrm>
          <a:prstGeom prst="rect">
            <a:avLst/>
          </a:prstGeom>
          <a:solidFill>
            <a:srgbClr val="FF5876"/>
          </a:solidFill>
          <a:ln w="8640">
            <a:solidFill>
              <a:srgbClr val="FF5876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612000" y="2023200"/>
            <a:ext cx="3168000" cy="172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FF5876"/>
                </a:solidFill>
                <a:effectLst/>
                <a:uFillTx/>
                <a:latin typeface="Arial"/>
              </a:rPr>
              <a:t>FRAGMENTED VISIBILITY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612000" y="2304000"/>
            <a:ext cx="3168000" cy="221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Login activity, threat intelligence, incidents and reports live in separate workflows.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4338000" y="1872000"/>
            <a:ext cx="3492000" cy="2772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4338000" y="1872000"/>
            <a:ext cx="32400" cy="2772000"/>
          </a:xfrm>
          <a:prstGeom prst="rect">
            <a:avLst/>
          </a:prstGeom>
          <a:solidFill>
            <a:srgbClr val="FFB547"/>
          </a:solidFill>
          <a:ln w="8640">
            <a:solidFill>
              <a:srgbClr val="FFB547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4518000" y="2023200"/>
            <a:ext cx="3168000" cy="172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FFB547"/>
                </a:solidFill>
                <a:effectLst/>
                <a:uFillTx/>
                <a:latin typeface="Arial"/>
              </a:rPr>
              <a:t>ALERT OVERLOAD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4518000" y="2304000"/>
            <a:ext cx="3168000" cy="221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Raw events create noise when they are not correlated, scored and explained.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8244000" y="1872000"/>
            <a:ext cx="3492000" cy="2772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8244000" y="1872000"/>
            <a:ext cx="32400" cy="2772000"/>
          </a:xfrm>
          <a:prstGeom prst="rect">
            <a:avLst/>
          </a:prstGeom>
          <a:solidFill>
            <a:srgbClr val="497BFF"/>
          </a:solidFill>
          <a:ln w="8640">
            <a:solidFill>
              <a:srgbClr val="497B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8424000" y="2023200"/>
            <a:ext cx="3168000" cy="172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497BFF"/>
                </a:solidFill>
                <a:effectLst/>
                <a:uFillTx/>
                <a:latin typeface="Arial"/>
              </a:rPr>
              <a:t>SLOW RESPONSE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8424000" y="2304000"/>
            <a:ext cx="3168000" cy="221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Analysts lose valuable time moving from detection to investigation and defensive action.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432000" y="5220000"/>
            <a:ext cx="1008000" cy="21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THE GAP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1548000" y="5173200"/>
            <a:ext cx="9720000" cy="32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A continuous, explainable security loop—from authentication to response.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8640">
            <a:solidFill>
              <a:srgbClr val="06111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64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129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194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259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324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388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453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518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583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648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777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842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907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972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1036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1101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1166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0" y="648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0" y="1296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0" y="1944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0" y="2592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0" y="3240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0" y="3888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0" y="4536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0" y="5184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0" y="5832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0" y="6480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20D9FF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396000" y="198000"/>
            <a:ext cx="2232000" cy="23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SENTINEL 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8532000" y="198000"/>
            <a:ext cx="2952000" cy="23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1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THE SOLUTION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11052000" y="6408000"/>
            <a:ext cx="432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0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03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414000" y="630000"/>
            <a:ext cx="10980000" cy="54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30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One defensive pipeline. One operational view.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432000" y="1152000"/>
            <a:ext cx="10584000" cy="32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Sentinel AI turns every authentication event into actionable SOC intelligence.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432000" y="1872000"/>
            <a:ext cx="2102400" cy="594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475200" y="2044800"/>
            <a:ext cx="2016000" cy="21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2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LOGIN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2552400" y="2044800"/>
            <a:ext cx="144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8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2714400" y="1872000"/>
            <a:ext cx="2102400" cy="594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497B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2757600" y="2044800"/>
            <a:ext cx="2016000" cy="21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2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LOG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4834800" y="2044800"/>
            <a:ext cx="144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8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4996800" y="1872000"/>
            <a:ext cx="2102400" cy="594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FFB547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5040000" y="2044800"/>
            <a:ext cx="2016000" cy="21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2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ANALYZE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7117200" y="2044800"/>
            <a:ext cx="144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8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7279200" y="1872000"/>
            <a:ext cx="2102400" cy="594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FF5876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7322400" y="2044800"/>
            <a:ext cx="2016000" cy="21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2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SCORE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9399600" y="2044800"/>
            <a:ext cx="144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8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9561600" y="1872000"/>
            <a:ext cx="2102400" cy="594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39E6A1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9604800" y="2044800"/>
            <a:ext cx="2016000" cy="21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2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PREDICT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432000" y="2916000"/>
            <a:ext cx="2102400" cy="594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FF5876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475200" y="3088800"/>
            <a:ext cx="2016000" cy="21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2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ALERT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2552400" y="3088800"/>
            <a:ext cx="144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8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2714400" y="2916000"/>
            <a:ext cx="2102400" cy="594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FFB547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2757600" y="3088800"/>
            <a:ext cx="2016000" cy="21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2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RESPOND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4834800" y="3088800"/>
            <a:ext cx="144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8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4996800" y="2916000"/>
            <a:ext cx="2102400" cy="594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5040000" y="3088800"/>
            <a:ext cx="2016000" cy="21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2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NOTIFY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7117200" y="3088800"/>
            <a:ext cx="144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8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7279200" y="2916000"/>
            <a:ext cx="2102400" cy="594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497B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7322400" y="3088800"/>
            <a:ext cx="2016000" cy="21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2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REPORT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9399600" y="3088800"/>
            <a:ext cx="144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8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9561600" y="2916000"/>
            <a:ext cx="2102400" cy="594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39E6A1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9604800" y="3088800"/>
            <a:ext cx="2016000" cy="21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2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DASHBOARD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432000" y="4320000"/>
            <a:ext cx="11232000" cy="1044000"/>
          </a:xfrm>
          <a:prstGeom prst="roundRect">
            <a:avLst/>
          </a:prstGeom>
          <a:solidFill>
            <a:srgbClr val="10263A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648000" y="4536000"/>
            <a:ext cx="1188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THE VALUE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648000" y="4860000"/>
            <a:ext cx="10332000" cy="27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Faster understanding  •  Explainable risk  •  Consistent response  •  Auditable evidence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8640">
            <a:solidFill>
              <a:srgbClr val="06111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64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129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194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259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324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388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453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518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583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648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777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842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907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972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1036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1101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1166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0" y="648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0" y="1296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0" y="1944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0" y="2592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0" y="3240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0" y="3888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0" y="4536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0" y="5184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0" y="5832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0" y="6480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20D9FF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396000" y="198000"/>
            <a:ext cx="2232000" cy="23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SENTINEL 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8532000" y="198000"/>
            <a:ext cx="2952000" cy="23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1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LIVE DEMO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11052000" y="6408000"/>
            <a:ext cx="432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0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04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414000" y="630000"/>
            <a:ext cx="10980000" cy="54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30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A threat story judges can see end-to-end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432000" y="1152000"/>
            <a:ext cx="10584000" cy="32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The demonstration begins with a normal user action and ends with an SOC response.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486000" y="1746000"/>
            <a:ext cx="450000" cy="450000"/>
          </a:xfrm>
          <a:prstGeom prst="ellipse">
            <a:avLst/>
          </a:prstGeom>
          <a:solidFill>
            <a:srgbClr val="10263A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540000" y="1868400"/>
            <a:ext cx="342000" cy="151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4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1188000" y="1746000"/>
            <a:ext cx="2736000" cy="21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7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Secure login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1188000" y="2019600"/>
            <a:ext cx="9720000" cy="30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3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Successful and failed attempts are captured with user, IP and device context.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712800" y="2214000"/>
            <a:ext cx="0" cy="496800"/>
          </a:xfrm>
          <a:prstGeom prst="line">
            <a:avLst/>
          </a:prstGeom>
          <a:ln w="12600">
            <a:solidFill>
              <a:srgbClr val="1732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486000" y="2754000"/>
            <a:ext cx="450000" cy="450000"/>
          </a:xfrm>
          <a:prstGeom prst="ellipse">
            <a:avLst/>
          </a:prstGeom>
          <a:solidFill>
            <a:srgbClr val="10263A"/>
          </a:solidFill>
          <a:ln w="8640">
            <a:solidFill>
              <a:srgbClr val="FFB547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540000" y="2876400"/>
            <a:ext cx="342000" cy="151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400" b="1" u="none" strike="noStrike">
                <a:solidFill>
                  <a:srgbClr val="FFB547"/>
                </a:solidFill>
                <a:effectLst/>
                <a:uFillTx/>
                <a:latin typeface="Arial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1188000" y="2754000"/>
            <a:ext cx="2736000" cy="21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7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Detection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1188000" y="3027600"/>
            <a:ext cx="9720000" cy="30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3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&gt;5 failures for the same user and IP in 5 minutes triggers brute-force logic.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712800" y="3222000"/>
            <a:ext cx="0" cy="496800"/>
          </a:xfrm>
          <a:prstGeom prst="line">
            <a:avLst/>
          </a:prstGeom>
          <a:ln w="12600">
            <a:solidFill>
              <a:srgbClr val="1732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486000" y="3762000"/>
            <a:ext cx="450000" cy="450000"/>
          </a:xfrm>
          <a:prstGeom prst="ellipse">
            <a:avLst/>
          </a:prstGeom>
          <a:solidFill>
            <a:srgbClr val="10263A"/>
          </a:solidFill>
          <a:ln w="8640">
            <a:solidFill>
              <a:srgbClr val="FF5876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540000" y="3884400"/>
            <a:ext cx="342000" cy="151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400" b="1" u="none" strike="noStrike">
                <a:solidFill>
                  <a:srgbClr val="FF5876"/>
                </a:solidFill>
                <a:effectLst/>
                <a:uFillTx/>
                <a:latin typeface="Arial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1188000" y="3762000"/>
            <a:ext cx="2736000" cy="21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7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AI risk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1188000" y="4035600"/>
            <a:ext cx="9720000" cy="30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3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Behavior is scored from 0–100 and classified LOW, MEDIUM or HIGH.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712800" y="4230000"/>
            <a:ext cx="0" cy="496800"/>
          </a:xfrm>
          <a:prstGeom prst="line">
            <a:avLst/>
          </a:prstGeom>
          <a:ln w="12600">
            <a:solidFill>
              <a:srgbClr val="1732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486000" y="4770000"/>
            <a:ext cx="450000" cy="450000"/>
          </a:xfrm>
          <a:prstGeom prst="ellipse">
            <a:avLst/>
          </a:prstGeom>
          <a:solidFill>
            <a:srgbClr val="10263A"/>
          </a:solidFill>
          <a:ln w="8640">
            <a:solidFill>
              <a:srgbClr val="39E6A1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540000" y="4892400"/>
            <a:ext cx="342000" cy="151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400" b="1" u="none" strike="noStrike">
                <a:solidFill>
                  <a:srgbClr val="39E6A1"/>
                </a:solidFill>
                <a:effectLst/>
                <a:uFillTx/>
                <a:latin typeface="Arial"/>
              </a:rPr>
              <a:t>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1188000" y="4770000"/>
            <a:ext cx="2736000" cy="21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7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SOC response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1188000" y="5043600"/>
            <a:ext cx="9720000" cy="30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3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Alert, attack path, incident, notification and report become visible.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8640">
            <a:solidFill>
              <a:srgbClr val="06111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64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129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194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259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324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388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453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518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583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648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777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842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907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972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1036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1101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1166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0" y="648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0" y="1296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0" y="1944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0" y="2592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0" y="3240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0" y="3888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0" y="4536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0" y="5184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0" y="5832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0" y="6480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20D9FF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396000" y="198000"/>
            <a:ext cx="2232000" cy="23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SENTINEL 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8532000" y="198000"/>
            <a:ext cx="2952000" cy="23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1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SOC COMMAND CENTER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11052000" y="6408000"/>
            <a:ext cx="432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0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05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414000" y="630000"/>
            <a:ext cx="10980000" cy="54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30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Built for the analyst's next decision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432000" y="1152000"/>
            <a:ext cx="10584000" cy="32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A responsive command center unifies real-time monitoring, intelligence and response.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432000" y="1800000"/>
            <a:ext cx="3312000" cy="1548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432000" y="1800000"/>
            <a:ext cx="32400" cy="1548000"/>
          </a:xfrm>
          <a:prstGeom prst="rect">
            <a:avLst/>
          </a:prstGeom>
          <a:solidFill>
            <a:srgbClr val="20D9FF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612000" y="1951200"/>
            <a:ext cx="2988000" cy="172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LIVE MONITORING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612000" y="2232000"/>
            <a:ext cx="2988000" cy="99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Authentication timeline, search, filters and status signals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4176000" y="1800000"/>
            <a:ext cx="3312000" cy="1548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4176000" y="1800000"/>
            <a:ext cx="32400" cy="1548000"/>
          </a:xfrm>
          <a:prstGeom prst="rect">
            <a:avLst/>
          </a:prstGeom>
          <a:solidFill>
            <a:srgbClr val="497BFF"/>
          </a:solidFill>
          <a:ln w="8640">
            <a:solidFill>
              <a:srgbClr val="497B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4356000" y="1951200"/>
            <a:ext cx="2988000" cy="172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497BFF"/>
                </a:solidFill>
                <a:effectLst/>
                <a:uFillTx/>
                <a:latin typeface="Arial"/>
              </a:rPr>
              <a:t>THREAT INTELLIGENCE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4356000" y="2232000"/>
            <a:ext cx="2988000" cy="99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Suspicious IPs, threat types and contextual risk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7920000" y="1800000"/>
            <a:ext cx="3312000" cy="1548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/>
          <p:nvPr/>
        </p:nvSpPr>
        <p:spPr>
          <a:xfrm>
            <a:off x="7920000" y="1800000"/>
            <a:ext cx="32400" cy="1548000"/>
          </a:xfrm>
          <a:prstGeom prst="rect">
            <a:avLst/>
          </a:prstGeom>
          <a:solidFill>
            <a:srgbClr val="FFB547"/>
          </a:solidFill>
          <a:ln w="8640">
            <a:solidFill>
              <a:srgbClr val="FFB547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8100000" y="1951200"/>
            <a:ext cx="2988000" cy="172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FFB547"/>
                </a:solidFill>
                <a:effectLst/>
                <a:uFillTx/>
                <a:latin typeface="Arial"/>
              </a:rPr>
              <a:t>AI DETECTION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8100000" y="2232000"/>
            <a:ext cx="2988000" cy="99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Risk score, confidence and explainable behavior analysis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432000" y="3672000"/>
            <a:ext cx="3312000" cy="1548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432000" y="3672000"/>
            <a:ext cx="32400" cy="1548000"/>
          </a:xfrm>
          <a:prstGeom prst="rect">
            <a:avLst/>
          </a:prstGeom>
          <a:solidFill>
            <a:srgbClr val="FF5876"/>
          </a:solidFill>
          <a:ln w="8640">
            <a:solidFill>
              <a:srgbClr val="FF5876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612000" y="3823200"/>
            <a:ext cx="2988000" cy="172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FF5876"/>
                </a:solidFill>
                <a:effectLst/>
                <a:uFillTx/>
                <a:latin typeface="Arial"/>
              </a:rPr>
              <a:t>ATTACK GRAPH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612000" y="4104000"/>
            <a:ext cx="2988000" cy="99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Likely progression from entry point to sensitive asset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4176000" y="3672000"/>
            <a:ext cx="3312000" cy="1548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4176000" y="3672000"/>
            <a:ext cx="32400" cy="1548000"/>
          </a:xfrm>
          <a:prstGeom prst="rect">
            <a:avLst/>
          </a:prstGeom>
          <a:solidFill>
            <a:srgbClr val="39E6A1"/>
          </a:solidFill>
          <a:ln w="8640">
            <a:solidFill>
              <a:srgbClr val="39E6A1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4356000" y="3823200"/>
            <a:ext cx="2988000" cy="172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39E6A1"/>
                </a:solidFill>
                <a:effectLst/>
                <a:uFillTx/>
                <a:latin typeface="Arial"/>
              </a:rPr>
              <a:t>SOAR RESPONSE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4356000" y="4104000"/>
            <a:ext cx="2988000" cy="99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Incident workflow from detection through resolution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7920000" y="3672000"/>
            <a:ext cx="3312000" cy="1548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7920000" y="3672000"/>
            <a:ext cx="32400" cy="1548000"/>
          </a:xfrm>
          <a:prstGeom prst="rect">
            <a:avLst/>
          </a:prstGeom>
          <a:solidFill>
            <a:srgbClr val="20D9FF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8100000" y="3823200"/>
            <a:ext cx="2988000" cy="172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REPORTING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8100000" y="4104000"/>
            <a:ext cx="2988000" cy="99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Daily, threat and incident reports with export-ready summaries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8640">
            <a:solidFill>
              <a:srgbClr val="06111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64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129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194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259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324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388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453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518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583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648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777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842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907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972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1036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1101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1166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0" y="648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0" y="1296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0" y="1944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0" y="2592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0" y="3240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0" y="3888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0" y="4536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0" y="5184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0" y="5832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0" y="6480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20D9FF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396000" y="198000"/>
            <a:ext cx="2232000" cy="23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SENTINEL 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8532000" y="198000"/>
            <a:ext cx="2952000" cy="23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1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ARCHITECTURE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11052000" y="6408000"/>
            <a:ext cx="432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0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06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414000" y="630000"/>
            <a:ext cx="10980000" cy="54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30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Modular by design. Integrated by a central security plane.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432000" y="1152000"/>
            <a:ext cx="10584000" cy="32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Nine independently runnable phases remain intact while the Central API coordinates data and operations.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432000" y="1818000"/>
            <a:ext cx="2232000" cy="828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558000" y="1944000"/>
            <a:ext cx="540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P1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558000" y="2214000"/>
            <a:ext cx="1908000" cy="19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3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Foundation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2952000" y="1818000"/>
            <a:ext cx="2232000" cy="828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3078000" y="1944000"/>
            <a:ext cx="540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P2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3078000" y="2214000"/>
            <a:ext cx="1908000" cy="19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3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SOC UI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5472000" y="1818000"/>
            <a:ext cx="2232000" cy="828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5598000" y="1944000"/>
            <a:ext cx="540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P3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5598000" y="2214000"/>
            <a:ext cx="1908000" cy="19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3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Threat Intel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432000" y="2934000"/>
            <a:ext cx="2232000" cy="828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558000" y="3060000"/>
            <a:ext cx="540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P4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558000" y="3330000"/>
            <a:ext cx="1908000" cy="19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3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AI Detection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2952000" y="2934000"/>
            <a:ext cx="2232000" cy="828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3078000" y="3060000"/>
            <a:ext cx="540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P5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3078000" y="3330000"/>
            <a:ext cx="1908000" cy="19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3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Attack Paths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5472000" y="2934000"/>
            <a:ext cx="2232000" cy="828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5598000" y="3060000"/>
            <a:ext cx="540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P6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5598000" y="3330000"/>
            <a:ext cx="1908000" cy="19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3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SOAR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432000" y="4050000"/>
            <a:ext cx="2232000" cy="828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558000" y="4176000"/>
            <a:ext cx="540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P7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558000" y="4446000"/>
            <a:ext cx="1908000" cy="19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3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Integrations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2952000" y="4050000"/>
            <a:ext cx="2232000" cy="828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3078000" y="4176000"/>
            <a:ext cx="540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P8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3078000" y="4446000"/>
            <a:ext cx="1908000" cy="19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3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Operations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5472000" y="4050000"/>
            <a:ext cx="2232000" cy="828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5598000" y="4176000"/>
            <a:ext cx="540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P9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5598000" y="4446000"/>
            <a:ext cx="1908000" cy="19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3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AI Hunting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8352000" y="1818000"/>
            <a:ext cx="3312000" cy="3060000"/>
          </a:xfrm>
          <a:prstGeom prst="roundRect">
            <a:avLst/>
          </a:prstGeom>
          <a:solidFill>
            <a:srgbClr val="10263A"/>
          </a:solidFill>
          <a:ln w="8640">
            <a:solidFill>
              <a:srgbClr val="497B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8640000" y="2034000"/>
            <a:ext cx="2736000" cy="23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200" b="1" u="none" strike="noStrike">
                <a:solidFill>
                  <a:srgbClr val="497BFF"/>
                </a:solidFill>
                <a:effectLst/>
                <a:uFillTx/>
                <a:latin typeface="Arial"/>
              </a:rPr>
              <a:t>CENTRAL SECURITY PLANE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8640000" y="2520000"/>
            <a:ext cx="2736000" cy="23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9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FastAPI Gateway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8640000" y="2952000"/>
            <a:ext cx="2736000" cy="12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Authentication + APIs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Detection orchestration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Health + topology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Fault-tolerant aggregation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8676000" y="4428000"/>
            <a:ext cx="1188000" cy="259200"/>
          </a:xfrm>
          <a:prstGeom prst="roundRect">
            <a:avLst/>
          </a:prstGeom>
          <a:solidFill>
            <a:srgbClr val="10263A"/>
          </a:solidFill>
          <a:ln w="8640">
            <a:solidFill>
              <a:srgbClr val="39E6A1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8730000" y="4474800"/>
            <a:ext cx="1080000" cy="136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000" b="1" u="none" strike="noStrike">
                <a:solidFill>
                  <a:srgbClr val="39E6A1"/>
                </a:solidFill>
                <a:effectLst/>
                <a:uFillTx/>
                <a:latin typeface="Arial"/>
              </a:rPr>
              <a:t>POSTGRESQL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10008000" y="4428000"/>
            <a:ext cx="900000" cy="259200"/>
          </a:xfrm>
          <a:prstGeom prst="roundRect">
            <a:avLst/>
          </a:prstGeom>
          <a:solidFill>
            <a:srgbClr val="10263A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10062000" y="4474800"/>
            <a:ext cx="792000" cy="136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0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REACT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8640">
            <a:solidFill>
              <a:srgbClr val="06111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64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129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194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259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324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388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453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518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583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648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777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842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907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972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1036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1101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1166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0" y="648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0" y="1296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0" y="1944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0" y="2592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0" y="3240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0" y="3888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0" y="4536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0" y="5184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0" y="5832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/>
          <p:nvPr/>
        </p:nvSpPr>
        <p:spPr>
          <a:xfrm>
            <a:off x="0" y="6480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20D9FF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396000" y="198000"/>
            <a:ext cx="2232000" cy="23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SENTINEL 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8532000" y="198000"/>
            <a:ext cx="2952000" cy="23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1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AI &amp; DETECTION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11052000" y="6408000"/>
            <a:ext cx="432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0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07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414000" y="630000"/>
            <a:ext cx="10980000" cy="54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30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Risk that analysts can understand—and challenge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432000" y="1152000"/>
            <a:ext cx="10584000" cy="32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Deterministic controls provide a reliable baseline; Phase 4 extends the pipeline with AI detection.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"/>
          <p:cNvSpPr/>
          <p:nvPr/>
        </p:nvSpPr>
        <p:spPr>
          <a:xfrm>
            <a:off x="432000" y="1836000"/>
            <a:ext cx="2592000" cy="2520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432000" y="1836000"/>
            <a:ext cx="32400" cy="2520000"/>
          </a:xfrm>
          <a:prstGeom prst="rect">
            <a:avLst/>
          </a:prstGeom>
          <a:solidFill>
            <a:srgbClr val="39E6A1"/>
          </a:solidFill>
          <a:ln w="8640">
            <a:solidFill>
              <a:srgbClr val="39E6A1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612000" y="1987200"/>
            <a:ext cx="2268000" cy="172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39E6A1"/>
                </a:solidFill>
                <a:effectLst/>
                <a:uFillTx/>
                <a:latin typeface="Arial"/>
              </a:rPr>
              <a:t>NORMAL ACTIVITY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612000" y="2224800"/>
            <a:ext cx="2268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28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10 / 100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612000" y="2646000"/>
            <a:ext cx="2268000" cy="158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3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Known behavior and successful authentication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3240000" y="1836000"/>
            <a:ext cx="2592000" cy="2520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>
            <a:off x="3240000" y="1836000"/>
            <a:ext cx="32400" cy="2520000"/>
          </a:xfrm>
          <a:prstGeom prst="rect">
            <a:avLst/>
          </a:prstGeom>
          <a:solidFill>
            <a:srgbClr val="FFB547"/>
          </a:solidFill>
          <a:ln w="8640">
            <a:solidFill>
              <a:srgbClr val="FFB547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3420000" y="1987200"/>
            <a:ext cx="2268000" cy="172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FFB547"/>
                </a:solidFill>
                <a:effectLst/>
                <a:uFillTx/>
                <a:latin typeface="Arial"/>
              </a:rPr>
              <a:t>SUSPICIOUS PATTERN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3420000" y="2224800"/>
            <a:ext cx="2268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28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35–55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3420000" y="2646000"/>
            <a:ext cx="2268000" cy="158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3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Repeated failures or abnormal login behavior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>
            <a:off x="6048000" y="1836000"/>
            <a:ext cx="2592000" cy="2520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6048000" y="1836000"/>
            <a:ext cx="32400" cy="2520000"/>
          </a:xfrm>
          <a:prstGeom prst="rect">
            <a:avLst/>
          </a:prstGeom>
          <a:solidFill>
            <a:srgbClr val="FF5876"/>
          </a:solidFill>
          <a:ln w="8640">
            <a:solidFill>
              <a:srgbClr val="FF5876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6228000" y="1987200"/>
            <a:ext cx="2268000" cy="172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FF5876"/>
                </a:solidFill>
                <a:effectLst/>
                <a:uFillTx/>
                <a:latin typeface="Arial"/>
              </a:rPr>
              <a:t>BRUTE FORCE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6228000" y="2224800"/>
            <a:ext cx="2268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28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90 / 100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6228000" y="2646000"/>
            <a:ext cx="2268000" cy="158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3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Threshold crossed for the same account and source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>
            <a:off x="9000000" y="1836000"/>
            <a:ext cx="2664000" cy="2520000"/>
          </a:xfrm>
          <a:prstGeom prst="roundRect">
            <a:avLst/>
          </a:prstGeom>
          <a:solidFill>
            <a:srgbClr val="10263A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9252000" y="2052000"/>
            <a:ext cx="2160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EXPLAINABILITY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9252000" y="2520000"/>
            <a:ext cx="2160000" cy="23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Every score keeps its evidence trail: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9252000" y="2934000"/>
            <a:ext cx="2160000" cy="100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3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• username behavior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• source IP activity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• attempt frequency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• event window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3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• detection reason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432000" y="5004000"/>
            <a:ext cx="10800000" cy="28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7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Human-readable reasoning remains visible beside the score.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8640">
            <a:solidFill>
              <a:srgbClr val="06111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>
            <a:off x="64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129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194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>
            <a:off x="259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"/>
          <p:cNvSpPr/>
          <p:nvPr/>
        </p:nvSpPr>
        <p:spPr>
          <a:xfrm>
            <a:off x="324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>
            <a:off x="388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"/>
          <p:cNvSpPr/>
          <p:nvPr/>
        </p:nvSpPr>
        <p:spPr>
          <a:xfrm>
            <a:off x="453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518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>
            <a:off x="583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648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777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842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"/>
          <p:cNvSpPr/>
          <p:nvPr/>
        </p:nvSpPr>
        <p:spPr>
          <a:xfrm>
            <a:off x="907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"/>
          <p:cNvSpPr/>
          <p:nvPr/>
        </p:nvSpPr>
        <p:spPr>
          <a:xfrm>
            <a:off x="972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"/>
          <p:cNvSpPr/>
          <p:nvPr/>
        </p:nvSpPr>
        <p:spPr>
          <a:xfrm>
            <a:off x="1036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"/>
          <p:cNvSpPr/>
          <p:nvPr/>
        </p:nvSpPr>
        <p:spPr>
          <a:xfrm>
            <a:off x="1101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"/>
          <p:cNvSpPr/>
          <p:nvPr/>
        </p:nvSpPr>
        <p:spPr>
          <a:xfrm>
            <a:off x="1166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>
            <a:off x="0" y="648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"/>
          <p:cNvSpPr/>
          <p:nvPr/>
        </p:nvSpPr>
        <p:spPr>
          <a:xfrm>
            <a:off x="0" y="1296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>
            <a:off x="0" y="1944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0" y="2592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>
            <a:off x="0" y="3240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0" y="3888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"/>
          <p:cNvSpPr/>
          <p:nvPr/>
        </p:nvSpPr>
        <p:spPr>
          <a:xfrm>
            <a:off x="0" y="4536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"/>
          <p:cNvSpPr/>
          <p:nvPr/>
        </p:nvSpPr>
        <p:spPr>
          <a:xfrm>
            <a:off x="0" y="5184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"/>
          <p:cNvSpPr/>
          <p:nvPr/>
        </p:nvSpPr>
        <p:spPr>
          <a:xfrm>
            <a:off x="0" y="5832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"/>
          <p:cNvSpPr/>
          <p:nvPr/>
        </p:nvSpPr>
        <p:spPr>
          <a:xfrm>
            <a:off x="0" y="6480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20D9FF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396000" y="198000"/>
            <a:ext cx="2232000" cy="23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SENTINEL 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8532000" y="198000"/>
            <a:ext cx="2952000" cy="23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1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SECURITY BY DESIGN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11052000" y="6408000"/>
            <a:ext cx="432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0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08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414000" y="630000"/>
            <a:ext cx="10980000" cy="54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30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The security platform protects its own trust boundary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432000" y="1152000"/>
            <a:ext cx="10584000" cy="32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Controls are implemented in the central authentication and persistence layer.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>
            <a:off x="432000" y="1764000"/>
            <a:ext cx="5220000" cy="1008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>
            <a:off x="432000" y="1764000"/>
            <a:ext cx="32400" cy="1008000"/>
          </a:xfrm>
          <a:prstGeom prst="rect">
            <a:avLst/>
          </a:prstGeom>
          <a:solidFill>
            <a:srgbClr val="20D9FF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612000" y="1915200"/>
            <a:ext cx="4896000" cy="172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PBKDF2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612000" y="2196000"/>
            <a:ext cx="4896000" cy="45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Password hashing with 600,000 iterations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>
            <a:off x="6084000" y="1764000"/>
            <a:ext cx="5220000" cy="1008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>
            <a:off x="6084000" y="1764000"/>
            <a:ext cx="32400" cy="1008000"/>
          </a:xfrm>
          <a:prstGeom prst="rect">
            <a:avLst/>
          </a:prstGeom>
          <a:solidFill>
            <a:srgbClr val="497BFF"/>
          </a:solidFill>
          <a:ln w="8640">
            <a:solidFill>
              <a:srgbClr val="497B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6264000" y="1915200"/>
            <a:ext cx="4896000" cy="172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497BFF"/>
                </a:solidFill>
                <a:effectLst/>
                <a:uFillTx/>
                <a:latin typeface="Arial"/>
              </a:rPr>
              <a:t>TOKEN SAFETY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6264000" y="2196000"/>
            <a:ext cx="4896000" cy="45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Hashed bearer tokens with expiry and revocation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>
            <a:off x="432000" y="3024000"/>
            <a:ext cx="5220000" cy="1008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432000" y="3024000"/>
            <a:ext cx="32400" cy="1008000"/>
          </a:xfrm>
          <a:prstGeom prst="rect">
            <a:avLst/>
          </a:prstGeom>
          <a:solidFill>
            <a:srgbClr val="39E6A1"/>
          </a:solidFill>
          <a:ln w="8640">
            <a:solidFill>
              <a:srgbClr val="39E6A1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612000" y="3175200"/>
            <a:ext cx="4896000" cy="172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39E6A1"/>
                </a:solidFill>
                <a:effectLst/>
                <a:uFillTx/>
                <a:latin typeface="Arial"/>
              </a:rPr>
              <a:t>SECRET HYGIENE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612000" y="3456000"/>
            <a:ext cx="4896000" cy="45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Credentials and keys supplied through environment variables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>
            <a:off x="6084000" y="3024000"/>
            <a:ext cx="5220000" cy="1008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>
            <a:off x="6084000" y="3024000"/>
            <a:ext cx="32400" cy="1008000"/>
          </a:xfrm>
          <a:prstGeom prst="rect">
            <a:avLst/>
          </a:prstGeom>
          <a:solidFill>
            <a:srgbClr val="FFB547"/>
          </a:solidFill>
          <a:ln w="8640">
            <a:solidFill>
              <a:srgbClr val="FFB547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6264000" y="3175200"/>
            <a:ext cx="4896000" cy="172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FFB547"/>
                </a:solidFill>
                <a:effectLst/>
                <a:uFillTx/>
                <a:latin typeface="Arial"/>
              </a:rPr>
              <a:t>SAFE MIGRATION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6264000" y="3456000"/>
            <a:ext cx="4896000" cy="45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Additive initialization preserves existing users and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>
            <a:off x="432000" y="4284000"/>
            <a:ext cx="5220000" cy="1008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>
            <a:off x="432000" y="4284000"/>
            <a:ext cx="32400" cy="1008000"/>
          </a:xfrm>
          <a:prstGeom prst="rect">
            <a:avLst/>
          </a:prstGeom>
          <a:solidFill>
            <a:srgbClr val="FF5876"/>
          </a:solidFill>
          <a:ln w="8640">
            <a:solidFill>
              <a:srgbClr val="FF5876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612000" y="4435200"/>
            <a:ext cx="4896000" cy="172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FF5876"/>
                </a:solidFill>
                <a:effectLst/>
                <a:uFillTx/>
                <a:latin typeface="Arial"/>
              </a:rPr>
              <a:t>AUDITABILITY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612000" y="4716000"/>
            <a:ext cx="4896000" cy="45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Success, failure, user agent, IP and reason are recorded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"/>
          <p:cNvSpPr/>
          <p:nvPr/>
        </p:nvSpPr>
        <p:spPr>
          <a:xfrm>
            <a:off x="6084000" y="4284000"/>
            <a:ext cx="5220000" cy="1008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>
            <a:off x="6084000" y="4284000"/>
            <a:ext cx="32400" cy="1008000"/>
          </a:xfrm>
          <a:prstGeom prst="rect">
            <a:avLst/>
          </a:prstGeom>
          <a:solidFill>
            <a:srgbClr val="20D9FF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6264000" y="4435200"/>
            <a:ext cx="4896000" cy="172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DEFENSIVE SCOPE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6264000" y="4716000"/>
            <a:ext cx="4896000" cy="45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Automated actions prepare and record defensive response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8640">
            <a:solidFill>
              <a:srgbClr val="06111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"/>
          <p:cNvSpPr/>
          <p:nvPr/>
        </p:nvSpPr>
        <p:spPr>
          <a:xfrm>
            <a:off x="64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"/>
          <p:cNvSpPr/>
          <p:nvPr/>
        </p:nvSpPr>
        <p:spPr>
          <a:xfrm>
            <a:off x="129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"/>
          <p:cNvSpPr/>
          <p:nvPr/>
        </p:nvSpPr>
        <p:spPr>
          <a:xfrm>
            <a:off x="194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"/>
          <p:cNvSpPr/>
          <p:nvPr/>
        </p:nvSpPr>
        <p:spPr>
          <a:xfrm>
            <a:off x="259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>
            <a:off x="324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"/>
          <p:cNvSpPr/>
          <p:nvPr/>
        </p:nvSpPr>
        <p:spPr>
          <a:xfrm>
            <a:off x="388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>
            <a:off x="453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>
            <a:off x="518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"/>
          <p:cNvSpPr/>
          <p:nvPr/>
        </p:nvSpPr>
        <p:spPr>
          <a:xfrm>
            <a:off x="583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"/>
          <p:cNvSpPr/>
          <p:nvPr/>
        </p:nvSpPr>
        <p:spPr>
          <a:xfrm>
            <a:off x="648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"/>
          <p:cNvSpPr/>
          <p:nvPr/>
        </p:nvSpPr>
        <p:spPr>
          <a:xfrm>
            <a:off x="777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>
            <a:off x="842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"/>
          <p:cNvSpPr/>
          <p:nvPr/>
        </p:nvSpPr>
        <p:spPr>
          <a:xfrm>
            <a:off x="907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"/>
          <p:cNvSpPr/>
          <p:nvPr/>
        </p:nvSpPr>
        <p:spPr>
          <a:xfrm>
            <a:off x="972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"/>
          <p:cNvSpPr/>
          <p:nvPr/>
        </p:nvSpPr>
        <p:spPr>
          <a:xfrm>
            <a:off x="1036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>
            <a:off x="1101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>
            <a:off x="1166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"/>
          <p:cNvSpPr/>
          <p:nvPr/>
        </p:nvSpPr>
        <p:spPr>
          <a:xfrm>
            <a:off x="0" y="648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"/>
          <p:cNvSpPr/>
          <p:nvPr/>
        </p:nvSpPr>
        <p:spPr>
          <a:xfrm>
            <a:off x="0" y="1296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>
            <a:off x="0" y="1944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>
            <a:off x="0" y="2592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>
            <a:off x="0" y="3240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>
            <a:off x="0" y="3888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"/>
          <p:cNvSpPr/>
          <p:nvPr/>
        </p:nvSpPr>
        <p:spPr>
          <a:xfrm>
            <a:off x="0" y="4536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"/>
          <p:cNvSpPr/>
          <p:nvPr/>
        </p:nvSpPr>
        <p:spPr>
          <a:xfrm>
            <a:off x="0" y="5184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>
            <a:off x="0" y="5832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"/>
          <p:cNvSpPr/>
          <p:nvPr/>
        </p:nvSpPr>
        <p:spPr>
          <a:xfrm>
            <a:off x="0" y="6480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20D9FF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396000" y="198000"/>
            <a:ext cx="2232000" cy="23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SENTINEL 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8532000" y="198000"/>
            <a:ext cx="2952000" cy="23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1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WHY IT STANDS OUT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11052000" y="6408000"/>
            <a:ext cx="432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0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09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414000" y="630000"/>
            <a:ext cx="10980000" cy="54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30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More than a dashboard: a closed-loop SOC platform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>
            <a:off x="432000" y="1764000"/>
            <a:ext cx="3492000" cy="2736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432000" y="1764000"/>
            <a:ext cx="32400" cy="2736000"/>
          </a:xfrm>
          <a:prstGeom prst="rect">
            <a:avLst/>
          </a:prstGeom>
          <a:solidFill>
            <a:srgbClr val="20D9FF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612000" y="1915200"/>
            <a:ext cx="3168000" cy="172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END-TO-END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612000" y="2196000"/>
            <a:ext cx="3168000" cy="217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A single flow connects authentication, logs, intelligence, AI, prediction, response, notifications and reports.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4338000" y="1764000"/>
            <a:ext cx="3492000" cy="2736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"/>
          <p:cNvSpPr/>
          <p:nvPr/>
        </p:nvSpPr>
        <p:spPr>
          <a:xfrm>
            <a:off x="4338000" y="1764000"/>
            <a:ext cx="32400" cy="2736000"/>
          </a:xfrm>
          <a:prstGeom prst="rect">
            <a:avLst/>
          </a:prstGeom>
          <a:solidFill>
            <a:srgbClr val="497BFF"/>
          </a:solidFill>
          <a:ln w="8640">
            <a:solidFill>
              <a:srgbClr val="497B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4518000" y="1915200"/>
            <a:ext cx="3168000" cy="172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497BFF"/>
                </a:solidFill>
                <a:effectLst/>
                <a:uFillTx/>
                <a:latin typeface="Arial"/>
              </a:rPr>
              <a:t>MODULAR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4518000" y="2196000"/>
            <a:ext cx="3168000" cy="217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Nine phases keep clear ownership and can evolve independently behind a central integration layer.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>
            <a:off x="8244000" y="1764000"/>
            <a:ext cx="3492000" cy="2736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8244000" y="1764000"/>
            <a:ext cx="32400" cy="2736000"/>
          </a:xfrm>
          <a:prstGeom prst="rect">
            <a:avLst/>
          </a:prstGeom>
          <a:solidFill>
            <a:srgbClr val="39E6A1"/>
          </a:solidFill>
          <a:ln w="8640">
            <a:solidFill>
              <a:srgbClr val="39E6A1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8424000" y="1915200"/>
            <a:ext cx="3168000" cy="172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39E6A1"/>
                </a:solidFill>
                <a:effectLst/>
                <a:uFillTx/>
                <a:latin typeface="Arial"/>
              </a:rPr>
              <a:t>OPERATIONAL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8424000" y="2196000"/>
            <a:ext cx="3168000" cy="217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Health checks, fault-tolerant aggregation, auditable evidence and safe response make the system demo-ready and extensible.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"/>
          <p:cNvSpPr/>
          <p:nvPr/>
        </p:nvSpPr>
        <p:spPr>
          <a:xfrm>
            <a:off x="1332000" y="5076000"/>
            <a:ext cx="1404000" cy="259200"/>
          </a:xfrm>
          <a:prstGeom prst="roundRect">
            <a:avLst/>
          </a:prstGeom>
          <a:solidFill>
            <a:srgbClr val="10263A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1386000" y="5122800"/>
            <a:ext cx="1296000" cy="136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0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DETECT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"/>
          <p:cNvSpPr/>
          <p:nvPr/>
        </p:nvSpPr>
        <p:spPr>
          <a:xfrm>
            <a:off x="3492000" y="5076000"/>
            <a:ext cx="1728000" cy="259200"/>
          </a:xfrm>
          <a:prstGeom prst="roundRect">
            <a:avLst/>
          </a:prstGeom>
          <a:solidFill>
            <a:srgbClr val="10263A"/>
          </a:solidFill>
          <a:ln w="8640">
            <a:solidFill>
              <a:srgbClr val="497B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3546000" y="5122800"/>
            <a:ext cx="1620000" cy="136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000" b="1" u="none" strike="noStrike">
                <a:solidFill>
                  <a:srgbClr val="497BFF"/>
                </a:solidFill>
                <a:effectLst/>
                <a:uFillTx/>
                <a:latin typeface="Arial"/>
              </a:rPr>
              <a:t>UNDERSTAND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"/>
          <p:cNvSpPr/>
          <p:nvPr/>
        </p:nvSpPr>
        <p:spPr>
          <a:xfrm>
            <a:off x="6048000" y="5076000"/>
            <a:ext cx="1404000" cy="259200"/>
          </a:xfrm>
          <a:prstGeom prst="roundRect">
            <a:avLst/>
          </a:prstGeom>
          <a:solidFill>
            <a:srgbClr val="10263A"/>
          </a:solidFill>
          <a:ln w="8640">
            <a:solidFill>
              <a:srgbClr val="FFB547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6102000" y="5122800"/>
            <a:ext cx="1296000" cy="136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000" b="1" u="none" strike="noStrike">
                <a:solidFill>
                  <a:srgbClr val="FFB547"/>
                </a:solidFill>
                <a:effectLst/>
                <a:uFillTx/>
                <a:latin typeface="Arial"/>
              </a:rPr>
              <a:t>PREDICT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"/>
          <p:cNvSpPr/>
          <p:nvPr/>
        </p:nvSpPr>
        <p:spPr>
          <a:xfrm>
            <a:off x="8280000" y="5076000"/>
            <a:ext cx="1404000" cy="259200"/>
          </a:xfrm>
          <a:prstGeom prst="roundRect">
            <a:avLst/>
          </a:prstGeom>
          <a:solidFill>
            <a:srgbClr val="10263A"/>
          </a:solidFill>
          <a:ln w="8640">
            <a:solidFill>
              <a:srgbClr val="39E6A1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8334000" y="5122800"/>
            <a:ext cx="1296000" cy="136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000" b="1" u="none" strike="noStrike">
                <a:solidFill>
                  <a:srgbClr val="39E6A1"/>
                </a:solidFill>
                <a:effectLst/>
                <a:uFillTx/>
                <a:latin typeface="Arial"/>
              </a:rPr>
              <a:t>RESPOND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8640">
            <a:solidFill>
              <a:srgbClr val="06111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"/>
          <p:cNvSpPr/>
          <p:nvPr/>
        </p:nvSpPr>
        <p:spPr>
          <a:xfrm>
            <a:off x="64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"/>
          <p:cNvSpPr/>
          <p:nvPr/>
        </p:nvSpPr>
        <p:spPr>
          <a:xfrm>
            <a:off x="129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"/>
          <p:cNvSpPr/>
          <p:nvPr/>
        </p:nvSpPr>
        <p:spPr>
          <a:xfrm>
            <a:off x="194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"/>
          <p:cNvSpPr/>
          <p:nvPr/>
        </p:nvSpPr>
        <p:spPr>
          <a:xfrm>
            <a:off x="259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>
            <a:off x="324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"/>
          <p:cNvSpPr/>
          <p:nvPr/>
        </p:nvSpPr>
        <p:spPr>
          <a:xfrm>
            <a:off x="388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"/>
          <p:cNvSpPr/>
          <p:nvPr/>
        </p:nvSpPr>
        <p:spPr>
          <a:xfrm>
            <a:off x="453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"/>
          <p:cNvSpPr/>
          <p:nvPr/>
        </p:nvSpPr>
        <p:spPr>
          <a:xfrm>
            <a:off x="518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"/>
          <p:cNvSpPr/>
          <p:nvPr/>
        </p:nvSpPr>
        <p:spPr>
          <a:xfrm>
            <a:off x="583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"/>
          <p:cNvSpPr/>
          <p:nvPr/>
        </p:nvSpPr>
        <p:spPr>
          <a:xfrm>
            <a:off x="648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"/>
          <p:cNvSpPr/>
          <p:nvPr/>
        </p:nvSpPr>
        <p:spPr>
          <a:xfrm>
            <a:off x="777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"/>
          <p:cNvSpPr/>
          <p:nvPr/>
        </p:nvSpPr>
        <p:spPr>
          <a:xfrm>
            <a:off x="842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"/>
          <p:cNvSpPr/>
          <p:nvPr/>
        </p:nvSpPr>
        <p:spPr>
          <a:xfrm>
            <a:off x="907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"/>
          <p:cNvSpPr/>
          <p:nvPr/>
        </p:nvSpPr>
        <p:spPr>
          <a:xfrm>
            <a:off x="972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"/>
          <p:cNvSpPr/>
          <p:nvPr/>
        </p:nvSpPr>
        <p:spPr>
          <a:xfrm>
            <a:off x="1036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>
            <a:off x="1101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"/>
          <p:cNvSpPr/>
          <p:nvPr/>
        </p:nvSpPr>
        <p:spPr>
          <a:xfrm>
            <a:off x="1166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"/>
          <p:cNvSpPr/>
          <p:nvPr/>
        </p:nvSpPr>
        <p:spPr>
          <a:xfrm>
            <a:off x="0" y="648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"/>
          <p:cNvSpPr/>
          <p:nvPr/>
        </p:nvSpPr>
        <p:spPr>
          <a:xfrm>
            <a:off x="0" y="1296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"/>
          <p:cNvSpPr/>
          <p:nvPr/>
        </p:nvSpPr>
        <p:spPr>
          <a:xfrm>
            <a:off x="0" y="1944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"/>
          <p:cNvSpPr/>
          <p:nvPr/>
        </p:nvSpPr>
        <p:spPr>
          <a:xfrm>
            <a:off x="0" y="2592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"/>
          <p:cNvSpPr/>
          <p:nvPr/>
        </p:nvSpPr>
        <p:spPr>
          <a:xfrm>
            <a:off x="0" y="3240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"/>
          <p:cNvSpPr/>
          <p:nvPr/>
        </p:nvSpPr>
        <p:spPr>
          <a:xfrm>
            <a:off x="0" y="3888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"/>
          <p:cNvSpPr/>
          <p:nvPr/>
        </p:nvSpPr>
        <p:spPr>
          <a:xfrm>
            <a:off x="0" y="4536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"/>
          <p:cNvSpPr/>
          <p:nvPr/>
        </p:nvSpPr>
        <p:spPr>
          <a:xfrm>
            <a:off x="0" y="5184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"/>
          <p:cNvSpPr/>
          <p:nvPr/>
        </p:nvSpPr>
        <p:spPr>
          <a:xfrm>
            <a:off x="0" y="5832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"/>
          <p:cNvSpPr/>
          <p:nvPr/>
        </p:nvSpPr>
        <p:spPr>
          <a:xfrm>
            <a:off x="0" y="6480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20D9FF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396000" y="198000"/>
            <a:ext cx="2232000" cy="23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SENTINEL 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8532000" y="198000"/>
            <a:ext cx="2952000" cy="23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1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VALIDATION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11052000" y="6408000"/>
            <a:ext cx="432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0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414000" y="630000"/>
            <a:ext cx="10980000" cy="54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30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Validated as a working system—not a static concept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432000" y="1152000"/>
            <a:ext cx="10584000" cy="32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The project includes executable services, persistence, APIs and a connected frontend.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"/>
          <p:cNvSpPr/>
          <p:nvPr/>
        </p:nvSpPr>
        <p:spPr>
          <a:xfrm>
            <a:off x="432000" y="1836000"/>
            <a:ext cx="2592000" cy="2340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>
            <a:off x="432000" y="1836000"/>
            <a:ext cx="32400" cy="2340000"/>
          </a:xfrm>
          <a:prstGeom prst="rect">
            <a:avLst/>
          </a:prstGeom>
          <a:solidFill>
            <a:srgbClr val="20D9FF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612000" y="1987200"/>
            <a:ext cx="2268000" cy="172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FRONTEND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612000" y="2224800"/>
            <a:ext cx="2268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28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BUILD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612000" y="2646000"/>
            <a:ext cx="2268000" cy="14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3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Production build verifies the React command center and report experience.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"/>
          <p:cNvSpPr/>
          <p:nvPr/>
        </p:nvSpPr>
        <p:spPr>
          <a:xfrm>
            <a:off x="3240000" y="1836000"/>
            <a:ext cx="2592000" cy="2340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"/>
          <p:cNvSpPr/>
          <p:nvPr/>
        </p:nvSpPr>
        <p:spPr>
          <a:xfrm>
            <a:off x="3240000" y="1836000"/>
            <a:ext cx="32400" cy="2340000"/>
          </a:xfrm>
          <a:prstGeom prst="rect">
            <a:avLst/>
          </a:prstGeom>
          <a:solidFill>
            <a:srgbClr val="497BFF"/>
          </a:solidFill>
          <a:ln w="8640">
            <a:solidFill>
              <a:srgbClr val="497B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3420000" y="1987200"/>
            <a:ext cx="2268000" cy="172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497BFF"/>
                </a:solidFill>
                <a:effectLst/>
                <a:uFillTx/>
                <a:latin typeface="Arial"/>
              </a:rPr>
              <a:t>BACKEND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3420000" y="2224800"/>
            <a:ext cx="2268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28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COMPILE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3420000" y="2646000"/>
            <a:ext cx="2268000" cy="14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3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Python compile checks protect API, model and service integrity.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"/>
          <p:cNvSpPr/>
          <p:nvPr/>
        </p:nvSpPr>
        <p:spPr>
          <a:xfrm>
            <a:off x="6048000" y="1836000"/>
            <a:ext cx="2592000" cy="2340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"/>
          <p:cNvSpPr/>
          <p:nvPr/>
        </p:nvSpPr>
        <p:spPr>
          <a:xfrm>
            <a:off x="6048000" y="1836000"/>
            <a:ext cx="32400" cy="2340000"/>
          </a:xfrm>
          <a:prstGeom prst="rect">
            <a:avLst/>
          </a:prstGeom>
          <a:solidFill>
            <a:srgbClr val="39E6A1"/>
          </a:solidFill>
          <a:ln w="8640">
            <a:solidFill>
              <a:srgbClr val="39E6A1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6228000" y="1987200"/>
            <a:ext cx="2268000" cy="172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39E6A1"/>
                </a:solidFill>
                <a:effectLst/>
                <a:uFillTx/>
                <a:latin typeface="Arial"/>
              </a:rPr>
              <a:t>INTEGRATION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6228000" y="2224800"/>
            <a:ext cx="2268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28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TEST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6228000" y="2646000"/>
            <a:ext cx="2268000" cy="14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3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Isolated tests exercise login logging, brute-force detection, notifications and report generation.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"/>
          <p:cNvSpPr/>
          <p:nvPr/>
        </p:nvSpPr>
        <p:spPr>
          <a:xfrm>
            <a:off x="8856000" y="1836000"/>
            <a:ext cx="2808000" cy="2340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17324B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"/>
          <p:cNvSpPr/>
          <p:nvPr/>
        </p:nvSpPr>
        <p:spPr>
          <a:xfrm>
            <a:off x="8856000" y="1836000"/>
            <a:ext cx="32400" cy="2340000"/>
          </a:xfrm>
          <a:prstGeom prst="rect">
            <a:avLst/>
          </a:prstGeom>
          <a:solidFill>
            <a:srgbClr val="FFB547"/>
          </a:solidFill>
          <a:ln w="8640">
            <a:solidFill>
              <a:srgbClr val="FFB547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9036000" y="1987200"/>
            <a:ext cx="2484000" cy="172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FFB547"/>
                </a:solidFill>
                <a:effectLst/>
                <a:uFillTx/>
                <a:latin typeface="Arial"/>
              </a:rPr>
              <a:t>OPERATIONS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9036000" y="2224800"/>
            <a:ext cx="2484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28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RUN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9036000" y="2646000"/>
            <a:ext cx="2484000" cy="14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3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Docker Compose, health endpoints and environment-based configuration support repeatable startup.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432000" y="4896000"/>
            <a:ext cx="18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1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DEMO SUCCESS CRITERIA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2340000" y="4838400"/>
            <a:ext cx="9180000" cy="30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6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Failed login → notification  |  6 attempts → high alert  |  report → persisted summary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8640">
            <a:solidFill>
              <a:srgbClr val="06111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"/>
          <p:cNvSpPr/>
          <p:nvPr/>
        </p:nvSpPr>
        <p:spPr>
          <a:xfrm>
            <a:off x="64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"/>
          <p:cNvSpPr/>
          <p:nvPr/>
        </p:nvSpPr>
        <p:spPr>
          <a:xfrm>
            <a:off x="129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"/>
          <p:cNvSpPr/>
          <p:nvPr/>
        </p:nvSpPr>
        <p:spPr>
          <a:xfrm>
            <a:off x="194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"/>
          <p:cNvSpPr/>
          <p:nvPr/>
        </p:nvSpPr>
        <p:spPr>
          <a:xfrm>
            <a:off x="259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"/>
          <p:cNvSpPr/>
          <p:nvPr/>
        </p:nvSpPr>
        <p:spPr>
          <a:xfrm>
            <a:off x="324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"/>
          <p:cNvSpPr/>
          <p:nvPr/>
        </p:nvSpPr>
        <p:spPr>
          <a:xfrm>
            <a:off x="388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"/>
          <p:cNvSpPr/>
          <p:nvPr/>
        </p:nvSpPr>
        <p:spPr>
          <a:xfrm>
            <a:off x="453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"/>
          <p:cNvSpPr/>
          <p:nvPr/>
        </p:nvSpPr>
        <p:spPr>
          <a:xfrm>
            <a:off x="518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"/>
          <p:cNvSpPr/>
          <p:nvPr/>
        </p:nvSpPr>
        <p:spPr>
          <a:xfrm>
            <a:off x="583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"/>
          <p:cNvSpPr/>
          <p:nvPr/>
        </p:nvSpPr>
        <p:spPr>
          <a:xfrm>
            <a:off x="648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"/>
          <p:cNvSpPr/>
          <p:nvPr/>
        </p:nvSpPr>
        <p:spPr>
          <a:xfrm>
            <a:off x="777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"/>
          <p:cNvSpPr/>
          <p:nvPr/>
        </p:nvSpPr>
        <p:spPr>
          <a:xfrm>
            <a:off x="842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"/>
          <p:cNvSpPr/>
          <p:nvPr/>
        </p:nvSpPr>
        <p:spPr>
          <a:xfrm>
            <a:off x="907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"/>
          <p:cNvSpPr/>
          <p:nvPr/>
        </p:nvSpPr>
        <p:spPr>
          <a:xfrm>
            <a:off x="972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"/>
          <p:cNvSpPr/>
          <p:nvPr/>
        </p:nvSpPr>
        <p:spPr>
          <a:xfrm>
            <a:off x="1036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"/>
          <p:cNvSpPr/>
          <p:nvPr/>
        </p:nvSpPr>
        <p:spPr>
          <a:xfrm>
            <a:off x="1101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"/>
          <p:cNvSpPr/>
          <p:nvPr/>
        </p:nvSpPr>
        <p:spPr>
          <a:xfrm>
            <a:off x="1166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"/>
          <p:cNvSpPr/>
          <p:nvPr/>
        </p:nvSpPr>
        <p:spPr>
          <a:xfrm>
            <a:off x="0" y="648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"/>
          <p:cNvSpPr/>
          <p:nvPr/>
        </p:nvSpPr>
        <p:spPr>
          <a:xfrm>
            <a:off x="0" y="1296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"/>
          <p:cNvSpPr/>
          <p:nvPr/>
        </p:nvSpPr>
        <p:spPr>
          <a:xfrm>
            <a:off x="0" y="1944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"/>
          <p:cNvSpPr/>
          <p:nvPr/>
        </p:nvSpPr>
        <p:spPr>
          <a:xfrm>
            <a:off x="0" y="2592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"/>
          <p:cNvSpPr/>
          <p:nvPr/>
        </p:nvSpPr>
        <p:spPr>
          <a:xfrm>
            <a:off x="0" y="3240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"/>
          <p:cNvSpPr/>
          <p:nvPr/>
        </p:nvSpPr>
        <p:spPr>
          <a:xfrm>
            <a:off x="0" y="3888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"/>
          <p:cNvSpPr/>
          <p:nvPr/>
        </p:nvSpPr>
        <p:spPr>
          <a:xfrm>
            <a:off x="0" y="4536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"/>
          <p:cNvSpPr/>
          <p:nvPr/>
        </p:nvSpPr>
        <p:spPr>
          <a:xfrm>
            <a:off x="0" y="5184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"/>
          <p:cNvSpPr/>
          <p:nvPr/>
        </p:nvSpPr>
        <p:spPr>
          <a:xfrm>
            <a:off x="0" y="5832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"/>
          <p:cNvSpPr/>
          <p:nvPr/>
        </p:nvSpPr>
        <p:spPr>
          <a:xfrm>
            <a:off x="0" y="6480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20D9FF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396000" y="198000"/>
            <a:ext cx="2232000" cy="23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SENTINEL 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8532000" y="198000"/>
            <a:ext cx="2952000" cy="23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1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ROADMAP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11052000" y="6408000"/>
            <a:ext cx="432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0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414000" y="630000"/>
            <a:ext cx="10980000" cy="54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30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A clear path from prototype to enterprise deployment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"/>
          <p:cNvSpPr/>
          <p:nvPr/>
        </p:nvSpPr>
        <p:spPr>
          <a:xfrm>
            <a:off x="432000" y="1872000"/>
            <a:ext cx="3312000" cy="2700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"/>
          <p:cNvSpPr/>
          <p:nvPr/>
        </p:nvSpPr>
        <p:spPr>
          <a:xfrm>
            <a:off x="648000" y="2070000"/>
            <a:ext cx="828000" cy="259200"/>
          </a:xfrm>
          <a:prstGeom prst="roundRect">
            <a:avLst/>
          </a:prstGeom>
          <a:solidFill>
            <a:srgbClr val="10263A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702000" y="2116800"/>
            <a:ext cx="720000" cy="136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0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NOW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648000" y="2646000"/>
            <a:ext cx="2808000" cy="28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24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Harden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648000" y="3204000"/>
            <a:ext cx="2772000" cy="93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RBAC • WebSocket streaming • Geo/IP enrichment • expanded automated tests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"/>
          <p:cNvSpPr/>
          <p:nvPr/>
        </p:nvSpPr>
        <p:spPr>
          <a:xfrm>
            <a:off x="4176000" y="1872000"/>
            <a:ext cx="3312000" cy="2700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497B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"/>
          <p:cNvSpPr/>
          <p:nvPr/>
        </p:nvSpPr>
        <p:spPr>
          <a:xfrm>
            <a:off x="4392000" y="2070000"/>
            <a:ext cx="828000" cy="259200"/>
          </a:xfrm>
          <a:prstGeom prst="roundRect">
            <a:avLst/>
          </a:prstGeom>
          <a:solidFill>
            <a:srgbClr val="10263A"/>
          </a:solidFill>
          <a:ln w="8640">
            <a:solidFill>
              <a:srgbClr val="497B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4446000" y="2116800"/>
            <a:ext cx="720000" cy="136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000" b="1" u="none" strike="noStrike">
                <a:solidFill>
                  <a:srgbClr val="497BFF"/>
                </a:solidFill>
                <a:effectLst/>
                <a:uFillTx/>
                <a:latin typeface="Arial"/>
              </a:rPr>
              <a:t>NEXT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4392000" y="2646000"/>
            <a:ext cx="2808000" cy="28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24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Integrate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4392000" y="3204000"/>
            <a:ext cx="2772000" cy="93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SIEM feeds • identity providers • threat exchanges • model observability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"/>
          <p:cNvSpPr/>
          <p:nvPr/>
        </p:nvSpPr>
        <p:spPr>
          <a:xfrm>
            <a:off x="7920000" y="1872000"/>
            <a:ext cx="3312000" cy="2700000"/>
          </a:xfrm>
          <a:prstGeom prst="roundRect">
            <a:avLst/>
          </a:prstGeom>
          <a:solidFill>
            <a:srgbClr val="0C1C2D"/>
          </a:solidFill>
          <a:ln w="8640">
            <a:solidFill>
              <a:srgbClr val="39E6A1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"/>
          <p:cNvSpPr/>
          <p:nvPr/>
        </p:nvSpPr>
        <p:spPr>
          <a:xfrm>
            <a:off x="8136000" y="2070000"/>
            <a:ext cx="828000" cy="259200"/>
          </a:xfrm>
          <a:prstGeom prst="roundRect">
            <a:avLst/>
          </a:prstGeom>
          <a:solidFill>
            <a:srgbClr val="10263A"/>
          </a:solidFill>
          <a:ln w="8640">
            <a:solidFill>
              <a:srgbClr val="39E6A1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8190000" y="2116800"/>
            <a:ext cx="720000" cy="136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000" b="1" u="none" strike="noStrike">
                <a:solidFill>
                  <a:srgbClr val="39E6A1"/>
                </a:solidFill>
                <a:effectLst/>
                <a:uFillTx/>
                <a:latin typeface="Arial"/>
              </a:rPr>
              <a:t>SCALE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8136000" y="2646000"/>
            <a:ext cx="2808000" cy="28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24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Enterprise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8136000" y="3204000"/>
            <a:ext cx="2772000" cy="93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Multi-tenancy • HA deployment • compliance packs • analyst collaboration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"/>
          <p:cNvSpPr/>
          <p:nvPr/>
        </p:nvSpPr>
        <p:spPr>
          <a:xfrm>
            <a:off x="1188000" y="5148000"/>
            <a:ext cx="9576000" cy="0"/>
          </a:xfrm>
          <a:prstGeom prst="line">
            <a:avLst/>
          </a:prstGeom>
          <a:ln w="16200">
            <a:solidFill>
              <a:srgbClr val="1732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7920" tIns="-52920" rIns="97920" bIns="-529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"/>
          <p:cNvSpPr/>
          <p:nvPr/>
        </p:nvSpPr>
        <p:spPr>
          <a:xfrm>
            <a:off x="1123200" y="5083200"/>
            <a:ext cx="129600" cy="129600"/>
          </a:xfrm>
          <a:prstGeom prst="ellipse">
            <a:avLst/>
          </a:prstGeom>
          <a:solidFill>
            <a:srgbClr val="20D9FF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"/>
          <p:cNvSpPr/>
          <p:nvPr/>
        </p:nvSpPr>
        <p:spPr>
          <a:xfrm>
            <a:off x="6019200" y="5083200"/>
            <a:ext cx="129600" cy="129600"/>
          </a:xfrm>
          <a:prstGeom prst="ellipse">
            <a:avLst/>
          </a:prstGeom>
          <a:solidFill>
            <a:srgbClr val="497BFF"/>
          </a:solidFill>
          <a:ln w="8640">
            <a:solidFill>
              <a:srgbClr val="497B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"/>
          <p:cNvSpPr/>
          <p:nvPr/>
        </p:nvSpPr>
        <p:spPr>
          <a:xfrm>
            <a:off x="10699200" y="5083200"/>
            <a:ext cx="129600" cy="129600"/>
          </a:xfrm>
          <a:prstGeom prst="ellipse">
            <a:avLst/>
          </a:prstGeom>
          <a:solidFill>
            <a:srgbClr val="39E6A1"/>
          </a:solidFill>
          <a:ln w="8640">
            <a:solidFill>
              <a:srgbClr val="39E6A1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06111F"/>
          </a:solidFill>
          <a:ln w="8640">
            <a:solidFill>
              <a:srgbClr val="06111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"/>
          <p:cNvSpPr/>
          <p:nvPr/>
        </p:nvSpPr>
        <p:spPr>
          <a:xfrm>
            <a:off x="64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"/>
          <p:cNvSpPr/>
          <p:nvPr/>
        </p:nvSpPr>
        <p:spPr>
          <a:xfrm>
            <a:off x="129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"/>
          <p:cNvSpPr/>
          <p:nvPr/>
        </p:nvSpPr>
        <p:spPr>
          <a:xfrm>
            <a:off x="194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"/>
          <p:cNvSpPr/>
          <p:nvPr/>
        </p:nvSpPr>
        <p:spPr>
          <a:xfrm>
            <a:off x="259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"/>
          <p:cNvSpPr/>
          <p:nvPr/>
        </p:nvSpPr>
        <p:spPr>
          <a:xfrm>
            <a:off x="324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"/>
          <p:cNvSpPr/>
          <p:nvPr/>
        </p:nvSpPr>
        <p:spPr>
          <a:xfrm>
            <a:off x="388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"/>
          <p:cNvSpPr/>
          <p:nvPr/>
        </p:nvSpPr>
        <p:spPr>
          <a:xfrm>
            <a:off x="453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"/>
          <p:cNvSpPr/>
          <p:nvPr/>
        </p:nvSpPr>
        <p:spPr>
          <a:xfrm>
            <a:off x="518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"/>
          <p:cNvSpPr/>
          <p:nvPr/>
        </p:nvSpPr>
        <p:spPr>
          <a:xfrm>
            <a:off x="583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"/>
          <p:cNvSpPr/>
          <p:nvPr/>
        </p:nvSpPr>
        <p:spPr>
          <a:xfrm>
            <a:off x="648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"/>
          <p:cNvSpPr/>
          <p:nvPr/>
        </p:nvSpPr>
        <p:spPr>
          <a:xfrm>
            <a:off x="712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"/>
          <p:cNvSpPr/>
          <p:nvPr/>
        </p:nvSpPr>
        <p:spPr>
          <a:xfrm>
            <a:off x="777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"/>
          <p:cNvSpPr/>
          <p:nvPr/>
        </p:nvSpPr>
        <p:spPr>
          <a:xfrm>
            <a:off x="842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"/>
          <p:cNvSpPr/>
          <p:nvPr/>
        </p:nvSpPr>
        <p:spPr>
          <a:xfrm>
            <a:off x="9072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"/>
          <p:cNvSpPr/>
          <p:nvPr/>
        </p:nvSpPr>
        <p:spPr>
          <a:xfrm>
            <a:off x="9720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"/>
          <p:cNvSpPr/>
          <p:nvPr/>
        </p:nvSpPr>
        <p:spPr>
          <a:xfrm>
            <a:off x="10368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"/>
          <p:cNvSpPr/>
          <p:nvPr/>
        </p:nvSpPr>
        <p:spPr>
          <a:xfrm>
            <a:off x="11016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"/>
          <p:cNvSpPr/>
          <p:nvPr/>
        </p:nvSpPr>
        <p:spPr>
          <a:xfrm>
            <a:off x="11664000" y="0"/>
            <a:ext cx="0" cy="685800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46440" bIns="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"/>
          <p:cNvSpPr/>
          <p:nvPr/>
        </p:nvSpPr>
        <p:spPr>
          <a:xfrm>
            <a:off x="0" y="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"/>
          <p:cNvSpPr/>
          <p:nvPr/>
        </p:nvSpPr>
        <p:spPr>
          <a:xfrm>
            <a:off x="0" y="648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"/>
          <p:cNvSpPr/>
          <p:nvPr/>
        </p:nvSpPr>
        <p:spPr>
          <a:xfrm>
            <a:off x="0" y="1296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"/>
          <p:cNvSpPr/>
          <p:nvPr/>
        </p:nvSpPr>
        <p:spPr>
          <a:xfrm>
            <a:off x="0" y="1944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"/>
          <p:cNvSpPr/>
          <p:nvPr/>
        </p:nvSpPr>
        <p:spPr>
          <a:xfrm>
            <a:off x="0" y="2592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"/>
          <p:cNvSpPr/>
          <p:nvPr/>
        </p:nvSpPr>
        <p:spPr>
          <a:xfrm>
            <a:off x="0" y="3240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"/>
          <p:cNvSpPr/>
          <p:nvPr/>
        </p:nvSpPr>
        <p:spPr>
          <a:xfrm>
            <a:off x="0" y="3888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"/>
          <p:cNvSpPr/>
          <p:nvPr/>
        </p:nvSpPr>
        <p:spPr>
          <a:xfrm>
            <a:off x="0" y="4536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"/>
          <p:cNvSpPr/>
          <p:nvPr/>
        </p:nvSpPr>
        <p:spPr>
          <a:xfrm>
            <a:off x="0" y="5184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"/>
          <p:cNvSpPr/>
          <p:nvPr/>
        </p:nvSpPr>
        <p:spPr>
          <a:xfrm>
            <a:off x="0" y="5832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"/>
          <p:cNvSpPr/>
          <p:nvPr/>
        </p:nvSpPr>
        <p:spPr>
          <a:xfrm>
            <a:off x="0" y="6480000"/>
            <a:ext cx="12192120" cy="0"/>
          </a:xfrm>
          <a:prstGeom prst="line">
            <a:avLst/>
          </a:prstGeom>
          <a:ln w="2880">
            <a:solidFill>
              <a:srgbClr val="0A1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-46440" bIns="-4644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"/>
          <p:cNvSpPr/>
          <p:nvPr/>
        </p:nvSpPr>
        <p:spPr>
          <a:xfrm>
            <a:off x="0" y="0"/>
            <a:ext cx="93600" cy="6858000"/>
          </a:xfrm>
          <a:prstGeom prst="rect">
            <a:avLst/>
          </a:prstGeom>
          <a:solidFill>
            <a:srgbClr val="20D9FF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396000" y="198000"/>
            <a:ext cx="2232000" cy="23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5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SENTINEL AI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8532000" y="198000"/>
            <a:ext cx="2952000" cy="23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1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CLOSING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11052000" y="6408000"/>
            <a:ext cx="432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0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"/>
          <p:cNvSpPr/>
          <p:nvPr/>
        </p:nvSpPr>
        <p:spPr>
          <a:xfrm>
            <a:off x="432000" y="1134000"/>
            <a:ext cx="1080000" cy="259200"/>
          </a:xfrm>
          <a:prstGeom prst="roundRect">
            <a:avLst/>
          </a:prstGeom>
          <a:solidFill>
            <a:srgbClr val="10263A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486000" y="1180800"/>
            <a:ext cx="972000" cy="136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0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THE MISSION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432000" y="1692000"/>
            <a:ext cx="8460000" cy="93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35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Turn every security signal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35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into a confident response.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450000" y="2844000"/>
            <a:ext cx="8280000" cy="54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700" b="0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Sentinel AI connects detection, understanding, prediction and response in one explainable SOC workflow.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"/>
          <p:cNvSpPr/>
          <p:nvPr/>
        </p:nvSpPr>
        <p:spPr>
          <a:xfrm>
            <a:off x="9180000" y="1332000"/>
            <a:ext cx="2232000" cy="2736000"/>
          </a:xfrm>
          <a:prstGeom prst="roundRect">
            <a:avLst/>
          </a:prstGeom>
          <a:solidFill>
            <a:srgbClr val="10263A"/>
          </a:solidFill>
          <a:ln w="8640">
            <a:solidFill>
              <a:srgbClr val="20D9FF"/>
            </a:solidFill>
            <a:round/>
          </a:ln>
        </p:spPr>
        <p:txBody>
          <a:bodyPr lIns="94320" tIns="49320" rIns="94320" bIns="493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9504000" y="1620000"/>
            <a:ext cx="1584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1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LIVE DEMO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9504000" y="2124000"/>
            <a:ext cx="1584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6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LOGIN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9504000" y="2448000"/>
            <a:ext cx="1584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8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9504000" y="2754000"/>
            <a:ext cx="1584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6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DETECT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9504000" y="3078000"/>
            <a:ext cx="1584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800" b="1" u="none" strike="noStrike">
                <a:solidFill>
                  <a:srgbClr val="95A8BC"/>
                </a:solidFill>
                <a:effectLst/>
                <a:uFillTx/>
                <a:latin typeface="Arial"/>
              </a:rPr>
              <a:t>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9504000" y="3384000"/>
            <a:ext cx="1584000" cy="1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algn="ctr"/>
            <a:r>
              <a:rPr lang="en-US" sz="1600" b="1" u="none" strike="noStrike">
                <a:solidFill>
                  <a:srgbClr val="39E6A1"/>
                </a:solidFill>
                <a:effectLst/>
                <a:uFillTx/>
                <a:latin typeface="Arial"/>
              </a:rPr>
              <a:t>RESPOND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432000" y="5652000"/>
            <a:ext cx="9360000" cy="27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400" b="1" u="none" strike="noStrike">
                <a:solidFill>
                  <a:srgbClr val="20D9FF"/>
                </a:solidFill>
                <a:effectLst/>
                <a:uFillTx/>
                <a:latin typeface="Arial"/>
              </a:rPr>
              <a:t>DETECT  •  UNDERSTAND  •  PREDICT  •  RESPOND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432000" y="6048000"/>
            <a:ext cx="3960000" cy="25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US" sz="1800" b="1" u="none" strike="noStrike">
                <a:solidFill>
                  <a:srgbClr val="F4F8FF"/>
                </a:solidFill>
                <a:effectLst/>
                <a:uFillTx/>
                <a:latin typeface="Arial"/>
              </a:rPr>
              <a:t>Thank you  /  Questions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2026-07-19T17:03:55Z</dcterms:created>
  <dc:creator/>
  <dc:description/>
  <dc:language>en-US</dc:language>
  <cp:lastModifiedBy/>
  <dcterms:modified xsi:type="dcterms:W3CDTF">2026-07-19T17:04:00Z</dcterms:modified>
  <cp:revision>1</cp:revision>
  <dc:subject/>
  <dc:title/>
</cp:coreProperties>
</file>