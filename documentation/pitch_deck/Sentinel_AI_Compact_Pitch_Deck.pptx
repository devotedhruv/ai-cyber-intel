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E1CBCC1-C4E5-4DE4-A98E-BF9C2360C09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2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C1535AC-DE1E-49F6-929E-7E834B87253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504000" y="1326240"/>
            <a:ext cx="907128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6111F"/>
          </a:solidFill>
          <a:ln w="10080">
            <a:solidFill>
              <a:srgbClr val="0611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792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1584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2376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3168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3960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4752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5544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6336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7128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7920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8712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9504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10296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11088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11880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0" y="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0" y="792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0" y="1584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0" y="2376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0" y="3168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0" y="3960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0" y="4752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0" y="5544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0" y="6336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79200" y="0"/>
            <a:ext cx="32040" cy="685764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6200" tIns="50040" rIns="1620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273600" y="504000"/>
            <a:ext cx="1223640" cy="1868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20D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316800" y="534600"/>
            <a:ext cx="1137240" cy="45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en-US" sz="7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AI-POWERED SECURITY OPERATIONS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273600" y="1008000"/>
            <a:ext cx="6659640" cy="85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44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SENTINEL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273600" y="1440000"/>
            <a:ext cx="2519640" cy="85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44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AI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280800" y="2070000"/>
            <a:ext cx="6299640" cy="88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2300" b="1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From security signal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300" b="1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to confident response.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280800" y="2844000"/>
            <a:ext cx="583164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A modular SOC platform connecting detection, explainable risk, attack prediction, response, and reporting.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8208000" y="1044000"/>
            <a:ext cx="2015640" cy="2015640"/>
          </a:xfrm>
          <a:prstGeom prst="ellipse">
            <a:avLst/>
          </a:prstGeom>
          <a:solidFill>
            <a:srgbClr val="0B1C2D"/>
          </a:solidFill>
          <a:ln w="16200">
            <a:solidFill>
              <a:srgbClr val="20D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8676000" y="1512000"/>
            <a:ext cx="1079640" cy="1079640"/>
          </a:xfrm>
          <a:prstGeom prst="ellipse">
            <a:avLst/>
          </a:prstGeom>
          <a:solidFill>
            <a:srgbClr val="06111F"/>
          </a:solidFill>
          <a:ln w="16200">
            <a:solidFill>
              <a:srgbClr val="4A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8856000" y="1828800"/>
            <a:ext cx="719640" cy="55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en-US" sz="27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AI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 flipV="1">
            <a:off x="10224000" y="1026000"/>
            <a:ext cx="1332000" cy="162000"/>
          </a:xfrm>
          <a:prstGeom prst="line">
            <a:avLst/>
          </a:prstGeom>
          <a:ln w="18000">
            <a:solidFill>
              <a:srgbClr val="20D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tIns="54000" rIns="99000" bIns="54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 flipV="1">
            <a:off x="10224000" y="1458000"/>
            <a:ext cx="1332000" cy="162000"/>
          </a:xfrm>
          <a:prstGeom prst="line">
            <a:avLst/>
          </a:prstGeom>
          <a:ln w="18000">
            <a:solidFill>
              <a:srgbClr val="4A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tIns="54000" rIns="99000" bIns="54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 flipV="1">
            <a:off x="10224000" y="1890000"/>
            <a:ext cx="1332000" cy="162000"/>
          </a:xfrm>
          <a:prstGeom prst="line">
            <a:avLst/>
          </a:prstGeom>
          <a:ln w="18000">
            <a:solidFill>
              <a:srgbClr val="A97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tIns="54000" rIns="99000" bIns="54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 flipV="1">
            <a:off x="10224000" y="2322000"/>
            <a:ext cx="1332000" cy="162000"/>
          </a:xfrm>
          <a:prstGeom prst="line">
            <a:avLst/>
          </a:prstGeom>
          <a:ln w="18000">
            <a:solidFill>
              <a:srgbClr val="48E0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tIns="54000" rIns="99000" bIns="54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280800" y="5976000"/>
            <a:ext cx="539964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6111F"/>
          </a:solidFill>
          <a:ln w="10080">
            <a:solidFill>
              <a:srgbClr val="0611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792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584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2376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3168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3960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752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5544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6336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7128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7920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8712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9504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10296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11088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11880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0" y="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0" y="792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0" y="1584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0" y="2376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0" y="3168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0" y="3960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0" y="4752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0" y="5544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0" y="6336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79200" y="0"/>
            <a:ext cx="32040" cy="685764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6200" tIns="50040" rIns="1620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252000" y="154800"/>
            <a:ext cx="1511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SENTINEL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10464120" y="154800"/>
            <a:ext cx="1439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just">
              <a:lnSpc>
                <a:spcPct val="100000"/>
              </a:lnSpc>
            </a:pPr>
            <a:r>
              <a:rPr lang="en-US" sz="8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THE IDEA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11742120" y="6606000"/>
            <a:ext cx="179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just">
              <a:lnSpc>
                <a:spcPct val="100000"/>
              </a:lnSpc>
            </a:pPr>
            <a:r>
              <a:rPr lang="en-US" sz="7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02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252000" y="450000"/>
            <a:ext cx="1097964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Security tools produce alerts. Sentinel AI produces a decision.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255600" y="820800"/>
            <a:ext cx="10511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The idea is to preserve context from the first signal through investigation and controlled response.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288000" y="1332000"/>
            <a:ext cx="3419640" cy="23396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288000" y="1332000"/>
            <a:ext cx="23040" cy="2339640"/>
          </a:xfrm>
          <a:prstGeom prst="rect">
            <a:avLst/>
          </a:prstGeom>
          <a:solidFill>
            <a:srgbClr val="FF536A"/>
          </a:solidFill>
          <a:ln w="10080">
            <a:solidFill>
              <a:srgbClr val="FF53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520" tIns="50040" rIns="1152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417600" y="1440000"/>
            <a:ext cx="3196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700" b="1" u="none" strike="noStrike">
                <a:solidFill>
                  <a:srgbClr val="FF536A"/>
                </a:solidFill>
                <a:effectLst/>
                <a:uFillTx/>
                <a:latin typeface="Noto Sans"/>
              </a:rPr>
              <a:t>PROBLEM 01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417600" y="1620000"/>
            <a:ext cx="3196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Fragmented context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417600" y="1890000"/>
            <a:ext cx="3185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Identity, IP, intelligence, detections, incidents, and reports are separated across tools.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4374000" y="1332000"/>
            <a:ext cx="3419640" cy="23396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4374000" y="1332000"/>
            <a:ext cx="23040" cy="2339640"/>
          </a:xfrm>
          <a:prstGeom prst="rect">
            <a:avLst/>
          </a:prstGeom>
          <a:solidFill>
            <a:srgbClr val="FFB547"/>
          </a:solidFill>
          <a:ln w="10080">
            <a:solidFill>
              <a:srgbClr val="FFB5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520" tIns="50040" rIns="1152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4503600" y="1440000"/>
            <a:ext cx="3196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700" b="1" u="none" strike="noStrike">
                <a:solidFill>
                  <a:srgbClr val="FFB547"/>
                </a:solidFill>
                <a:effectLst/>
                <a:uFillTx/>
                <a:latin typeface="Noto Sans"/>
              </a:rPr>
              <a:t>PROBLEM 02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4503600" y="1620000"/>
            <a:ext cx="3196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Alert overload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4503600" y="1890000"/>
            <a:ext cx="3185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Raw events create noise when risk, evidence, and recommended action are not connected.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8460000" y="1332000"/>
            <a:ext cx="3419640" cy="23396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8460000" y="1332000"/>
            <a:ext cx="23040" cy="2339640"/>
          </a:xfrm>
          <a:prstGeom prst="rect">
            <a:avLst/>
          </a:prstGeom>
          <a:solidFill>
            <a:srgbClr val="4A9CFF"/>
          </a:solidFill>
          <a:ln w="10080">
            <a:solidFill>
              <a:srgbClr val="4A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520" tIns="50040" rIns="1152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8589600" y="1440000"/>
            <a:ext cx="3196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700" b="1" u="none" strike="noStrike">
                <a:solidFill>
                  <a:srgbClr val="4A9CFF"/>
                </a:solidFill>
                <a:effectLst/>
                <a:uFillTx/>
                <a:latin typeface="Noto Sans"/>
              </a:rPr>
              <a:t>PROBLEM 03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8589600" y="1620000"/>
            <a:ext cx="3196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Slow response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8589600" y="1890000"/>
            <a:ext cx="3185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Analysts reconstruct the story manually before they can contain, escalate, or explain it.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288000" y="4068000"/>
            <a:ext cx="11591640" cy="899640"/>
          </a:xfrm>
          <a:prstGeom prst="roundRect">
            <a:avLst>
              <a:gd name="adj" fmla="val 16667"/>
            </a:avLst>
          </a:prstGeom>
          <a:solidFill>
            <a:srgbClr val="10263A"/>
          </a:solidFill>
          <a:ln w="10080">
            <a:solidFill>
              <a:srgbClr val="20D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486000" y="4230000"/>
            <a:ext cx="1511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THE IDEA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486000" y="4482000"/>
            <a:ext cx="10799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7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One explainable security loop: detect → understand → predict → respond.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6111F"/>
          </a:solidFill>
          <a:ln w="10080">
            <a:solidFill>
              <a:srgbClr val="0611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792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1584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2376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3168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3960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752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5544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6336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7128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7920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8712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9504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10296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11088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11880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0" y="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0" y="792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0" y="1584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0" y="2376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0" y="3168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0" y="3960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0" y="4752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0" y="5544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0" y="6336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79200" y="0"/>
            <a:ext cx="32040" cy="685764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6200" tIns="50040" rIns="1620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252000" y="154800"/>
            <a:ext cx="1511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SENTINEL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10464120" y="154800"/>
            <a:ext cx="1439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just">
              <a:lnSpc>
                <a:spcPct val="100000"/>
              </a:lnSpc>
            </a:pPr>
            <a:r>
              <a:rPr lang="en-US" sz="8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PRODUCT + PROOF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11742120" y="6606000"/>
            <a:ext cx="179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just">
              <a:lnSpc>
                <a:spcPct val="100000"/>
              </a:lnSpc>
            </a:pPr>
            <a:r>
              <a:rPr lang="en-US" sz="7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03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252000" y="450000"/>
            <a:ext cx="1097964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A working end-to-end threat story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255600" y="820800"/>
            <a:ext cx="10511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Sentinel AI already </a:t>
            </a:r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converts </a:t>
            </a:r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authentication </a:t>
            </a:r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behavior into </a:t>
            </a:r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persisted SOC </a:t>
            </a:r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evidence and </a:t>
            </a:r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action.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252000" y="1404000"/>
            <a:ext cx="1583640" cy="3596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20D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309600" y="1486800"/>
            <a:ext cx="1468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en-US" sz="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LOGIN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309600" y="1620000"/>
            <a:ext cx="1468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en-US" sz="6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STEP 01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1836000" y="1584000"/>
            <a:ext cx="234000" cy="36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2005200" y="15408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0" tIns="-9720" rIns="3240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 flipV="1">
            <a:off x="2005200" y="15840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0" tIns="-9720" rIns="3240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2070000" y="1404000"/>
            <a:ext cx="1583640" cy="3596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FF53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2127600" y="1486800"/>
            <a:ext cx="1468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en-US" sz="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DETECT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2127600" y="1620000"/>
            <a:ext cx="1468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en-US" sz="6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STEP 02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3654000" y="1584000"/>
            <a:ext cx="234000" cy="36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3823200" y="15408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0" tIns="-9720" rIns="3240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 flipV="1">
            <a:off x="3823200" y="15840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0" tIns="-9720" rIns="3240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3888000" y="1404000"/>
            <a:ext cx="1583640" cy="3596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FFB5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3945600" y="1486800"/>
            <a:ext cx="1468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en-US" sz="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SCORE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3945600" y="1620000"/>
            <a:ext cx="1468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en-US" sz="6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STEP 03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5472000" y="1584000"/>
            <a:ext cx="234000" cy="36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5641200" y="15408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0" tIns="-9720" rIns="3240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 flipV="1">
            <a:off x="5641200" y="15840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0" tIns="-9720" rIns="3240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5706000" y="1404000"/>
            <a:ext cx="1583640" cy="3596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A97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5763600" y="1486800"/>
            <a:ext cx="1468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en-US" sz="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PREDICT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5763600" y="1620000"/>
            <a:ext cx="1468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en-US" sz="6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STEP 04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7290000" y="1584000"/>
            <a:ext cx="234000" cy="36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7459200" y="15408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0" tIns="-9720" rIns="3240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 flipV="1">
            <a:off x="7459200" y="15840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0" tIns="-9720" rIns="3240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7524000" y="1404000"/>
            <a:ext cx="1583640" cy="3596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48E0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7581600" y="1486800"/>
            <a:ext cx="1468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en-US" sz="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RESPOND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7581600" y="1620000"/>
            <a:ext cx="1468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en-US" sz="6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STEP 05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9108000" y="1584000"/>
            <a:ext cx="234000" cy="36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9277200" y="15408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0" tIns="-9720" rIns="3240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 flipV="1">
            <a:off x="9277200" y="15840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0" tIns="-9720" rIns="3240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9342000" y="1404000"/>
            <a:ext cx="1583640" cy="3596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4A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9399600" y="1486800"/>
            <a:ext cx="1468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en-US" sz="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REPORT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9399600" y="1620000"/>
            <a:ext cx="1468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en-US" sz="6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STEP 06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288000" y="2448000"/>
            <a:ext cx="2519640" cy="7556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381600" y="2556000"/>
            <a:ext cx="233244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&gt;5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381600" y="2890800"/>
            <a:ext cx="2332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00" b="1" u="none" strike="noStrike">
                <a:solidFill>
                  <a:srgbClr val="FF536A"/>
                </a:solidFill>
                <a:effectLst/>
                <a:uFillTx/>
                <a:latin typeface="Noto Sans"/>
              </a:rPr>
              <a:t>FAILED ATTEMPTS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3060000" y="2448000"/>
            <a:ext cx="2519640" cy="7556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3153600" y="2556000"/>
            <a:ext cx="233244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5 min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3153600" y="2890800"/>
            <a:ext cx="2332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00" b="1" u="none" strike="noStrike">
                <a:solidFill>
                  <a:srgbClr val="FFB547"/>
                </a:solidFill>
                <a:effectLst/>
                <a:uFillTx/>
                <a:latin typeface="Noto Sans"/>
              </a:rPr>
              <a:t>DETECTION WINDOW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5832000" y="2448000"/>
            <a:ext cx="2519640" cy="7556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5925600" y="2556000"/>
            <a:ext cx="233244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90/100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5925600" y="2890800"/>
            <a:ext cx="2332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00" b="1" u="none" strike="noStrike">
                <a:solidFill>
                  <a:srgbClr val="A979FF"/>
                </a:solidFill>
                <a:effectLst/>
                <a:uFillTx/>
                <a:latin typeface="Noto Sans"/>
              </a:rPr>
              <a:t>HIGH RISK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8604000" y="2448000"/>
            <a:ext cx="2519640" cy="7556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8697600" y="2556000"/>
            <a:ext cx="233244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200 OK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8697600" y="2890800"/>
            <a:ext cx="2332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00" b="1" u="none" strike="noStrike">
                <a:solidFill>
                  <a:srgbClr val="48E0A4"/>
                </a:solidFill>
                <a:effectLst/>
                <a:uFillTx/>
                <a:latin typeface="Noto Sans"/>
              </a:rPr>
              <a:t>VERIFIED REPORT API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288000" y="3528000"/>
            <a:ext cx="10835640" cy="10076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468000" y="3708000"/>
            <a:ext cx="1403640" cy="1868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48E0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511200" y="3738600"/>
            <a:ext cx="13172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en-US" sz="700" b="1" u="none" strike="noStrike">
                <a:solidFill>
                  <a:srgbClr val="48E0A4"/>
                </a:solidFill>
                <a:effectLst/>
                <a:uFillTx/>
                <a:latin typeface="Noto Sans"/>
              </a:rPr>
              <a:t>IMPLEMENTED + VERIFIED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2052000" y="3715200"/>
            <a:ext cx="8603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Same user + same IP + sixth failure inside five minutes → HIGH alert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2052000" y="4032000"/>
            <a:ext cx="8459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Traceable across security logs, AI risk, threat event, attack path, incident, notification, and report.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6111F"/>
          </a:solidFill>
          <a:ln w="10080">
            <a:solidFill>
              <a:srgbClr val="0611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792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1584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2376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3168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3960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4752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5544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6336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7128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7920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8712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9504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10296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11088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11880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0" y="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0" y="792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0" y="1584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0" y="2376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0" y="3168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0" y="3960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0" y="4752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0" y="5544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0" y="6336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79200" y="0"/>
            <a:ext cx="32040" cy="685764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6200" tIns="50040" rIns="1620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252000" y="154800"/>
            <a:ext cx="1511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SENTINEL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10464120" y="154800"/>
            <a:ext cx="1439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just">
              <a:lnSpc>
                <a:spcPct val="100000"/>
              </a:lnSpc>
            </a:pPr>
            <a:r>
              <a:rPr lang="en-US" sz="8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MARKET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11742120" y="6606000"/>
            <a:ext cx="179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just">
              <a:lnSpc>
                <a:spcPct val="100000"/>
              </a:lnSpc>
            </a:pPr>
            <a:r>
              <a:rPr lang="en-US" sz="7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04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252000" y="450000"/>
            <a:ext cx="1097964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A broad need with a focused entry point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255600" y="820800"/>
            <a:ext cx="10511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Sentinel AI starts with explainable identity threats and expands through modular security telemetry.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288000" y="1332000"/>
            <a:ext cx="3527640" cy="22316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288000" y="1332000"/>
            <a:ext cx="23040" cy="223164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520" tIns="50040" rIns="1152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417600" y="1440000"/>
            <a:ext cx="3304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7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TARGET USER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417600" y="1620000"/>
            <a:ext cx="3304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SMALL &amp; MID-SIZE TEAMS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417600" y="1890000"/>
            <a:ext cx="3293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Need unified visibility without assembling a large SOC stack.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4176000" y="1332000"/>
            <a:ext cx="3527640" cy="22316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4176000" y="1332000"/>
            <a:ext cx="23040" cy="2231640"/>
          </a:xfrm>
          <a:prstGeom prst="rect">
            <a:avLst/>
          </a:prstGeom>
          <a:solidFill>
            <a:srgbClr val="4A9CFF"/>
          </a:solidFill>
          <a:ln w="10080">
            <a:solidFill>
              <a:srgbClr val="4A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520" tIns="50040" rIns="1152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4305600" y="1440000"/>
            <a:ext cx="3304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700" b="1" u="none" strike="noStrike">
                <a:solidFill>
                  <a:srgbClr val="4A9CFF"/>
                </a:solidFill>
                <a:effectLst/>
                <a:uFillTx/>
                <a:latin typeface="Noto Sans"/>
              </a:rPr>
              <a:t>TARGET USER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4305600" y="1620000"/>
            <a:ext cx="3304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MANAGED SECURITY PROVIDERS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4305600" y="1890000"/>
            <a:ext cx="3293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Need repeatable monitoring, evidence, reporting, and tenant-ready workflows.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8064000" y="1332000"/>
            <a:ext cx="3527640" cy="22316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8064000" y="1332000"/>
            <a:ext cx="23040" cy="2231640"/>
          </a:xfrm>
          <a:prstGeom prst="rect">
            <a:avLst/>
          </a:prstGeom>
          <a:solidFill>
            <a:srgbClr val="48E0A4"/>
          </a:solidFill>
          <a:ln w="10080">
            <a:solidFill>
              <a:srgbClr val="48E0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520" tIns="50040" rIns="1152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8193600" y="1440000"/>
            <a:ext cx="3304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700" b="1" u="none" strike="noStrike">
                <a:solidFill>
                  <a:srgbClr val="48E0A4"/>
                </a:solidFill>
                <a:effectLst/>
                <a:uFillTx/>
                <a:latin typeface="Noto Sans"/>
              </a:rPr>
              <a:t>TARGET USER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8193600" y="1620000"/>
            <a:ext cx="3304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EDUCATION &amp; PUBLIC SECTOR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8193600" y="1890000"/>
            <a:ext cx="3293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Need accessible defensive tooling, auditability, and constrained automation.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288000" y="3888000"/>
            <a:ext cx="11303640" cy="1079640"/>
          </a:xfrm>
          <a:prstGeom prst="roundRect">
            <a:avLst>
              <a:gd name="adj" fmla="val 16667"/>
            </a:avLst>
          </a:prstGeom>
          <a:solidFill>
            <a:srgbClr val="10263A"/>
          </a:solidFill>
          <a:ln w="10080">
            <a:solidFill>
              <a:srgbClr val="A97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468000" y="4050000"/>
            <a:ext cx="1511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00" b="1" u="none" strike="noStrike">
                <a:solidFill>
                  <a:srgbClr val="A979FF"/>
                </a:solidFill>
                <a:effectLst/>
                <a:uFillTx/>
                <a:latin typeface="Noto Sans"/>
              </a:rPr>
              <a:t>WHY NOW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/>
          <p:nvPr/>
        </p:nvSpPr>
        <p:spPr>
          <a:xfrm>
            <a:off x="468000" y="4320000"/>
            <a:ext cx="10727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More telemetry + limited analyst capacity + rising identity attacks = demand for explainable automation.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468000" y="4680000"/>
            <a:ext cx="10511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No invented TAM figure: initial validation focuses on interviews, pilots, conversion, and measurable analyst time saved.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6111F"/>
          </a:solidFill>
          <a:ln w="10080">
            <a:solidFill>
              <a:srgbClr val="0611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792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1584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2376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3168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3960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4752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5544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6336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7128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7920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8712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9504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10296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11088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11880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0" y="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0" y="792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0" y="1584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0" y="2376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0" y="3168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0" y="3960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0" y="4752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0" y="5544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0" y="6336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79200" y="0"/>
            <a:ext cx="32040" cy="685764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6200" tIns="50040" rIns="1620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252000" y="154800"/>
            <a:ext cx="1511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SENTINEL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10464120" y="154800"/>
            <a:ext cx="1439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just">
              <a:lnSpc>
                <a:spcPct val="100000"/>
              </a:lnSpc>
            </a:pPr>
            <a:r>
              <a:rPr lang="en-US" sz="8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WHY SENTINEL AI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11742120" y="6606000"/>
            <a:ext cx="179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just">
              <a:lnSpc>
                <a:spcPct val="100000"/>
              </a:lnSpc>
            </a:pPr>
            <a:r>
              <a:rPr lang="en-US" sz="7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252000" y="450000"/>
            <a:ext cx="1097964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More than a dashboard. More accountable than a black box.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255600" y="820800"/>
            <a:ext cx="10511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The advantage is the closed loop and the evidence that remains visible throughout it.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288000" y="1332000"/>
            <a:ext cx="3527640" cy="25916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288000" y="1332000"/>
            <a:ext cx="23040" cy="259164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520" tIns="50040" rIns="1152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417600" y="1440000"/>
            <a:ext cx="3304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7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01 / CLOSED LOOP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417600" y="1620000"/>
            <a:ext cx="3304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End-to-end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417600" y="1890000"/>
            <a:ext cx="3293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A single event connects authentication, logs, intelligence, risk, prediction, incidents, notifications, and reports.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4320000" y="1332000"/>
            <a:ext cx="3527640" cy="25916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4320000" y="1332000"/>
            <a:ext cx="23040" cy="2591640"/>
          </a:xfrm>
          <a:prstGeom prst="rect">
            <a:avLst/>
          </a:prstGeom>
          <a:solidFill>
            <a:srgbClr val="4A9CFF"/>
          </a:solidFill>
          <a:ln w="10080">
            <a:solidFill>
              <a:srgbClr val="4A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520" tIns="50040" rIns="1152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4449600" y="1440000"/>
            <a:ext cx="3304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700" b="1" u="none" strike="noStrike">
                <a:solidFill>
                  <a:srgbClr val="4A9CFF"/>
                </a:solidFill>
                <a:effectLst/>
                <a:uFillTx/>
                <a:latin typeface="Noto Sans"/>
              </a:rPr>
              <a:t>02 / MODULAR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4449600" y="1620000"/>
            <a:ext cx="3304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Phase-owned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4449600" y="1890000"/>
            <a:ext cx="3293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Nine independent capabilities evolve separately while a central API preserves one operational experience.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8352000" y="1332000"/>
            <a:ext cx="3527640" cy="25916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102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8352000" y="1332000"/>
            <a:ext cx="23040" cy="2591640"/>
          </a:xfrm>
          <a:prstGeom prst="rect">
            <a:avLst/>
          </a:prstGeom>
          <a:solidFill>
            <a:srgbClr val="48E0A4"/>
          </a:solidFill>
          <a:ln w="10080">
            <a:solidFill>
              <a:srgbClr val="48E0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520" tIns="50040" rIns="1152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8481600" y="1440000"/>
            <a:ext cx="3304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700" b="1" u="none" strike="noStrike">
                <a:solidFill>
                  <a:srgbClr val="48E0A4"/>
                </a:solidFill>
                <a:effectLst/>
                <a:uFillTx/>
                <a:latin typeface="Noto Sans"/>
              </a:rPr>
              <a:t>03 / EXPLAINABLE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8481600" y="1620000"/>
            <a:ext cx="33044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Evidence first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8481600" y="1890000"/>
            <a:ext cx="3293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Rules and AI scores retain username, IP, time window, frequency, reason, confidence, and response state.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936000" y="4392000"/>
            <a:ext cx="1619640" cy="1868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20D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979200" y="4422600"/>
            <a:ext cx="15332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en-US" sz="7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DETECT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2556000" y="4485600"/>
            <a:ext cx="648000" cy="36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3139200" y="44424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0" tIns="-9720" rIns="3240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 flipV="1">
            <a:off x="3139200" y="44856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0" tIns="-9720" rIns="3240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3420000" y="4392000"/>
            <a:ext cx="1619640" cy="1868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4A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3463200" y="4422600"/>
            <a:ext cx="15332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en-US" sz="700" b="1" u="none" strike="noStrike">
                <a:solidFill>
                  <a:srgbClr val="4A9CFF"/>
                </a:solidFill>
                <a:effectLst/>
                <a:uFillTx/>
                <a:latin typeface="Noto Sans"/>
              </a:rPr>
              <a:t>UNDERSTAND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5040000" y="4485600"/>
            <a:ext cx="648000" cy="36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5623200" y="44424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0" tIns="-9720" rIns="3240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 flipV="1">
            <a:off x="5623200" y="44856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0" tIns="-9720" rIns="3240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5904000" y="4392000"/>
            <a:ext cx="1619640" cy="1868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FFB5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5947200" y="4422600"/>
            <a:ext cx="15332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en-US" sz="700" b="1" u="none" strike="noStrike">
                <a:solidFill>
                  <a:srgbClr val="FFB547"/>
                </a:solidFill>
                <a:effectLst/>
                <a:uFillTx/>
                <a:latin typeface="Noto Sans"/>
              </a:rPr>
              <a:t>PREDICT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7524000" y="4485600"/>
            <a:ext cx="648000" cy="36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8107200" y="44424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0" tIns="-9720" rIns="3240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 flipV="1">
            <a:off x="8107200" y="4485600"/>
            <a:ext cx="64800" cy="43200"/>
          </a:xfrm>
          <a:prstGeom prst="line">
            <a:avLst/>
          </a:prstGeom>
          <a:ln w="162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0" tIns="-9720" rIns="32400" bIns="-97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8388000" y="4392000"/>
            <a:ext cx="1619640" cy="1868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48E0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8431200" y="4422600"/>
            <a:ext cx="15332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en-US" sz="700" b="1" u="none" strike="noStrike">
                <a:solidFill>
                  <a:srgbClr val="48E0A4"/>
                </a:solidFill>
                <a:effectLst/>
                <a:uFillTx/>
                <a:latin typeface="Noto Sans"/>
              </a:rPr>
              <a:t>RESPOND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6111F"/>
          </a:solidFill>
          <a:ln w="10080">
            <a:solidFill>
              <a:srgbClr val="0611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792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1584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2376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3168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3960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4752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5544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6336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7128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7920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8712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9504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10296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11088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11880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0" y="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0" y="792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0" y="1584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0" y="2376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0" y="3168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0" y="3960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0" y="4752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0" y="5544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0" y="6336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79200" y="0"/>
            <a:ext cx="32040" cy="685764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6200" tIns="50040" rIns="1620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252000" y="154800"/>
            <a:ext cx="1511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SENTINEL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10464120" y="154800"/>
            <a:ext cx="1439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just">
              <a:lnSpc>
                <a:spcPct val="100000"/>
              </a:lnSpc>
            </a:pPr>
            <a:r>
              <a:rPr lang="en-US" sz="8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GO TO MARKET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11742120" y="6606000"/>
            <a:ext cx="179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just">
              <a:lnSpc>
                <a:spcPct val="100000"/>
              </a:lnSpc>
            </a:pPr>
            <a:r>
              <a:rPr lang="en-US" sz="7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06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252000" y="450000"/>
            <a:ext cx="1097964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Land with one visible threat story. Expand with telemetry.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255600" y="820800"/>
            <a:ext cx="10511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A product-led technical pilot turns the working authentication use case into broader security adoption.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288000" y="1332000"/>
            <a:ext cx="3527640" cy="27356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20D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468000" y="1530000"/>
            <a:ext cx="359640" cy="359640"/>
          </a:xfrm>
          <a:prstGeom prst="ellipse">
            <a:avLst/>
          </a:prstGeom>
          <a:solidFill>
            <a:srgbClr val="06111F"/>
          </a:solidFill>
          <a:ln w="16200">
            <a:solidFill>
              <a:srgbClr val="20D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536400" y="1645200"/>
            <a:ext cx="2228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en-US" sz="9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01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468000" y="2106000"/>
            <a:ext cx="3059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PILOT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468000" y="2592000"/>
            <a:ext cx="3059640" cy="4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Deploy the central SOC and prove login-to-report visibility with a real security team.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4176000" y="1332000"/>
            <a:ext cx="3527640" cy="27356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4A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4356000" y="1530000"/>
            <a:ext cx="359640" cy="359640"/>
          </a:xfrm>
          <a:prstGeom prst="ellipse">
            <a:avLst/>
          </a:prstGeom>
          <a:solidFill>
            <a:srgbClr val="06111F"/>
          </a:solidFill>
          <a:ln w="16200">
            <a:solidFill>
              <a:srgbClr val="4A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4424400" y="1645200"/>
            <a:ext cx="2228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en-US" sz="900" b="1" u="none" strike="noStrike">
                <a:solidFill>
                  <a:srgbClr val="4A9CFF"/>
                </a:solidFill>
                <a:effectLst/>
                <a:uFillTx/>
                <a:latin typeface="Noto Sans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4356000" y="2106000"/>
            <a:ext cx="3059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INTEGRATE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4356000" y="2592000"/>
            <a:ext cx="3059640" cy="4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Add approved identity, WordPress, WAF, SIEM, and threat-intelligence event sources.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8064000" y="1332000"/>
            <a:ext cx="3527640" cy="27356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48E0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8244000" y="1530000"/>
            <a:ext cx="359640" cy="359640"/>
          </a:xfrm>
          <a:prstGeom prst="ellipse">
            <a:avLst/>
          </a:prstGeom>
          <a:solidFill>
            <a:srgbClr val="06111F"/>
          </a:solidFill>
          <a:ln w="16200">
            <a:solidFill>
              <a:srgbClr val="48E0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8312400" y="1645200"/>
            <a:ext cx="2228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en-US" sz="900" b="1" u="none" strike="noStrike">
                <a:solidFill>
                  <a:srgbClr val="48E0A4"/>
                </a:solidFill>
                <a:effectLst/>
                <a:uFillTx/>
                <a:latin typeface="Noto Sans"/>
              </a:rPr>
              <a:t>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8244000" y="2106000"/>
            <a:ext cx="3059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9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EXPAND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"/>
          <p:cNvSpPr/>
          <p:nvPr/>
        </p:nvSpPr>
        <p:spPr>
          <a:xfrm>
            <a:off x="8244000" y="2592000"/>
            <a:ext cx="3059640" cy="66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Enable web, network, endpoint, collaboration, compliance, and multi-tenant modules.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288000" y="4500000"/>
            <a:ext cx="1187640" cy="1868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FFB5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331200" y="4530600"/>
            <a:ext cx="11012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en-US" sz="700" b="1" u="none" strike="noStrike">
                <a:solidFill>
                  <a:srgbClr val="FFB547"/>
                </a:solidFill>
                <a:effectLst/>
                <a:uFillTx/>
                <a:latin typeface="Noto Sans"/>
              </a:rPr>
              <a:t>PILOT METRICS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1656000" y="4507200"/>
            <a:ext cx="9719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Time-to-triage  •  detection-to-report completion  •  analyst adoption  •  false-positive review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6111F"/>
          </a:solidFill>
          <a:ln w="10080">
            <a:solidFill>
              <a:srgbClr val="0611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792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1584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2376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3168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3960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4752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5544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6336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7128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7920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8712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9504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10296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11088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11880000" y="0"/>
            <a:ext cx="360" cy="685800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48240" rIns="93240" bIns="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0" y="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0" y="792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0" y="1584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0" y="2376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0" y="3168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0" y="3960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0" y="4752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0" y="5544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0" y="6336000"/>
            <a:ext cx="12192120" cy="360"/>
          </a:xfrm>
          <a:prstGeom prst="line">
            <a:avLst/>
          </a:prstGeom>
          <a:ln w="6480">
            <a:solidFill>
              <a:srgbClr val="1024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tIns="-48240" rIns="93240" bIns="-482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79200" y="0"/>
            <a:ext cx="32040" cy="6857640"/>
          </a:xfrm>
          <a:prstGeom prst="rect">
            <a:avLst/>
          </a:prstGeom>
          <a:solidFill>
            <a:srgbClr val="20D6BD"/>
          </a:solidFill>
          <a:ln w="10080">
            <a:solidFill>
              <a:srgbClr val="20D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6200" tIns="50040" rIns="16200" bIns="500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252000" y="154800"/>
            <a:ext cx="1511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SENTINEL AI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10464120" y="154800"/>
            <a:ext cx="1439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just">
              <a:lnSpc>
                <a:spcPct val="100000"/>
              </a:lnSpc>
            </a:pPr>
            <a:r>
              <a:rPr lang="en-US" sz="8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WHAT'S NEXT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11742120" y="6606000"/>
            <a:ext cx="179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just">
              <a:lnSpc>
                <a:spcPct val="100000"/>
              </a:lnSpc>
            </a:pPr>
            <a:r>
              <a:rPr lang="en-US" sz="7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07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252000" y="450000"/>
            <a:ext cx="1097964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25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Turn a verified core into a broader defense platform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255600" y="820800"/>
            <a:ext cx="10511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71879A"/>
                </a:solidFill>
                <a:effectLst/>
                <a:uFillTx/>
                <a:latin typeface="Noto Sans"/>
              </a:rPr>
              <a:t>The next milestones expand coverage while preserving accuracy, safety, and the existing architecture.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288000" y="1296000"/>
            <a:ext cx="3527640" cy="28796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20D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468000" y="1494000"/>
            <a:ext cx="683640" cy="1868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20D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511200" y="1524600"/>
            <a:ext cx="5972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en-US" sz="7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NOW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468000" y="1962000"/>
            <a:ext cx="3059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HARDEN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468000" y="2448000"/>
            <a:ext cx="3059640" cy="85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RBAC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real-time streaming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automated tests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production observability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4176000" y="1296000"/>
            <a:ext cx="3527640" cy="28796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4A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4356000" y="1494000"/>
            <a:ext cx="683640" cy="1868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4A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4399200" y="1524600"/>
            <a:ext cx="5972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en-US" sz="700" b="1" u="none" strike="noStrike">
                <a:solidFill>
                  <a:srgbClr val="4A9CFF"/>
                </a:solidFill>
                <a:effectLst/>
                <a:uFillTx/>
                <a:latin typeface="Noto Sans"/>
              </a:rPr>
              <a:t>NEXT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4356000" y="1962000"/>
            <a:ext cx="3059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WEB DETECTION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4356000" y="2448000"/>
            <a:ext cx="3059640" cy="85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WordPress telemetry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SQL injection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XSS + traversal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API abuse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>
            <a:off x="8064000" y="1296000"/>
            <a:ext cx="3527640" cy="28796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48E0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8244000" y="1494000"/>
            <a:ext cx="683640" cy="186840"/>
          </a:xfrm>
          <a:prstGeom prst="roundRect">
            <a:avLst>
              <a:gd name="adj" fmla="val 16667"/>
            </a:avLst>
          </a:prstGeom>
          <a:solidFill>
            <a:srgbClr val="0B1C2D"/>
          </a:solidFill>
          <a:ln w="10080">
            <a:solidFill>
              <a:srgbClr val="48E0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5040" tIns="50040" rIns="95040" bIns="5004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8287200" y="1524600"/>
            <a:ext cx="5972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>
              <a:lnSpc>
                <a:spcPct val="100000"/>
              </a:lnSpc>
            </a:pPr>
            <a:r>
              <a:rPr lang="en-US" sz="700" b="1" u="none" strike="noStrike">
                <a:solidFill>
                  <a:srgbClr val="48E0A4"/>
                </a:solidFill>
                <a:effectLst/>
                <a:uFillTx/>
                <a:latin typeface="Noto Sans"/>
              </a:rPr>
              <a:t>THEN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8244000" y="1962000"/>
            <a:ext cx="3059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ENTERPRISE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8244000" y="2448000"/>
            <a:ext cx="3059640" cy="85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IDS + EDR inputs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multi-tenancy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high availability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8D6E3"/>
                </a:solidFill>
                <a:effectLst/>
                <a:uFillTx/>
                <a:latin typeface="Noto Sans"/>
              </a:rPr>
              <a:t>compliance packs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"/>
          <p:cNvSpPr/>
          <p:nvPr/>
        </p:nvSpPr>
        <p:spPr>
          <a:xfrm>
            <a:off x="1872000" y="4572000"/>
            <a:ext cx="7848000" cy="360"/>
          </a:xfrm>
          <a:prstGeom prst="line">
            <a:avLst/>
          </a:prstGeom>
          <a:ln w="12600">
            <a:solidFill>
              <a:srgbClr val="7187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"/>
          <p:cNvSpPr/>
          <p:nvPr/>
        </p:nvSpPr>
        <p:spPr>
          <a:xfrm>
            <a:off x="1800000" y="4464000"/>
            <a:ext cx="215640" cy="215640"/>
          </a:xfrm>
          <a:prstGeom prst="ellipse">
            <a:avLst/>
          </a:prstGeom>
          <a:solidFill>
            <a:srgbClr val="20D6BD"/>
          </a:solidFill>
          <a:ln w="16200">
            <a:solidFill>
              <a:srgbClr val="20D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5688000" y="4464000"/>
            <a:ext cx="215640" cy="215640"/>
          </a:xfrm>
          <a:prstGeom prst="ellipse">
            <a:avLst/>
          </a:prstGeom>
          <a:solidFill>
            <a:srgbClr val="4A9CFF"/>
          </a:solidFill>
          <a:ln w="16200">
            <a:solidFill>
              <a:srgbClr val="4A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9576000" y="4464000"/>
            <a:ext cx="215640" cy="215640"/>
          </a:xfrm>
          <a:prstGeom prst="ellipse">
            <a:avLst/>
          </a:prstGeom>
          <a:solidFill>
            <a:srgbClr val="48E0A4"/>
          </a:solidFill>
          <a:ln w="16200">
            <a:solidFill>
              <a:srgbClr val="48E0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"/>
          <p:cNvSpPr/>
          <p:nvPr/>
        </p:nvSpPr>
        <p:spPr>
          <a:xfrm>
            <a:off x="288000" y="5148000"/>
            <a:ext cx="10979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700" b="1" u="none" strike="noStrike">
                <a:solidFill>
                  <a:srgbClr val="F2F7FB"/>
                </a:solidFill>
                <a:effectLst/>
                <a:uFillTx/>
                <a:latin typeface="Noto Sans"/>
              </a:rPr>
              <a:t>The ask: pilot partners, security feedback, and integration opportunities.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"/>
          <p:cNvSpPr/>
          <p:nvPr/>
        </p:nvSpPr>
        <p:spPr>
          <a:xfrm>
            <a:off x="288000" y="5508000"/>
            <a:ext cx="10799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900" b="1" u="none" strike="noStrike">
                <a:solidFill>
                  <a:srgbClr val="20D6BD"/>
                </a:solidFill>
                <a:effectLst/>
                <a:uFillTx/>
                <a:latin typeface="Noto Sans"/>
              </a:rPr>
              <a:t>Sentinel AI — detect • understand • predict • respond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LibreOffice/26.2.4.2$Linux_X86_64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2026-07-19T20:50:19Z</dcterms:created>
  <dc:creator/>
  <dc:description/>
  <dc:language>en-US</dc:language>
  <cp:lastModifiedBy/>
  <dcterms:modified xsi:type="dcterms:W3CDTF">2026-07-19T20:55:49Z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