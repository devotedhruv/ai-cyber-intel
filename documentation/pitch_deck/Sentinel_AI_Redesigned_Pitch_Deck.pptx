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EC6061-2FE3-40A3-BD10-64256BC1A8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AC9DF-D856-49D1-9AC5-AF377D0D0E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DAB88CE-044D-4889-8EC9-33BA82104F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259200" y="450000"/>
            <a:ext cx="1296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02400" y="480600"/>
            <a:ext cx="1209600" cy="330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AI-POWERED SECURITY OPERATIONS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59200" y="900000"/>
            <a:ext cx="7200000" cy="85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44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SENTINEL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59200" y="1332000"/>
            <a:ext cx="2880000" cy="85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44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273600" y="1926000"/>
            <a:ext cx="6300000" cy="78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000" b="1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Detect threats. Predict attacks.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1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Respond intelligently.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73600" y="2808000"/>
            <a:ext cx="5400000" cy="505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2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 modular cyber threat intelligence and SOC platform that turns security telemetry into explainable decisions.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280000" y="1044000"/>
            <a:ext cx="1872000" cy="1872000"/>
          </a:xfrm>
          <a:prstGeom prst="ellipse">
            <a:avLst/>
          </a:prstGeom>
          <a:solidFill>
            <a:srgbClr val="0B1C2D"/>
          </a:solidFill>
          <a:ln w="16200">
            <a:solidFill>
              <a:srgbClr val="20D6BD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676000" y="1440000"/>
            <a:ext cx="1080000" cy="108000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4A9CFF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856000" y="1753200"/>
            <a:ext cx="720000" cy="55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2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 flipV="1">
            <a:off x="10152000" y="1008000"/>
            <a:ext cx="1332000" cy="180000"/>
          </a:xfrm>
          <a:prstGeom prst="line">
            <a:avLst/>
          </a:prstGeom>
          <a:ln w="162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 flipV="1">
            <a:off x="10152000" y="1368000"/>
            <a:ext cx="1332000" cy="180000"/>
          </a:xfrm>
          <a:prstGeom prst="line">
            <a:avLst/>
          </a:prstGeom>
          <a:ln w="162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10152000" y="1728000"/>
            <a:ext cx="1332000" cy="180000"/>
          </a:xfrm>
          <a:prstGeom prst="line">
            <a:avLst/>
          </a:prstGeom>
          <a:ln w="16200">
            <a:solidFill>
              <a:srgbClr val="A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10152000" y="2088000"/>
            <a:ext cx="1332000" cy="180000"/>
          </a:xfrm>
          <a:prstGeom prst="line">
            <a:avLst/>
          </a:prstGeom>
          <a:ln w="1620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73600" y="6246000"/>
            <a:ext cx="3060000" cy="23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PROJECT PITCH • 2026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73600" y="6444000"/>
            <a:ext cx="3960000" cy="21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FASTAPI  •  REACT  •  POSTGRESQL  •  AI/ML  •  SOAR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PROBLEM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Security teams see signals. They need decisions.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Authentication events, alerts, threat intelligence, and incidents are often separated by tools and time.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270000" y="1278000"/>
            <a:ext cx="3528000" cy="273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70000" y="1278000"/>
            <a:ext cx="23400" cy="273600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99600" y="1386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01 / FRAGMENTED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99600" y="1566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Context breaks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99600" y="1836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Logs, identities, IP reputation, detections, and response evidence live in disconnected systems.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320000" y="1278000"/>
            <a:ext cx="3528000" cy="273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320000" y="1278000"/>
            <a:ext cx="23400" cy="27360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4449600" y="1386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02 / OVERLOADED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449600" y="1566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Noise wins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449600" y="1836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High-volume alerts lack prioritization, explainability, and a visible connection to business risk.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370000" y="1278000"/>
            <a:ext cx="3528000" cy="273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8370000" y="1278000"/>
            <a:ext cx="23400" cy="273600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499600" y="1386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03 / DELAYED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8499600" y="1566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Response waits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8499600" y="1836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Analysts spend time reconstructing evidence before they can contain or escalate a threat.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70000" y="4446000"/>
            <a:ext cx="864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13200" y="4476600"/>
            <a:ext cx="777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THE GAP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260000" y="4435200"/>
            <a:ext cx="97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 continuous, explainable loop—from security event to controlled response.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SOLUTION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One defensive pipeline. One operational view.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Sentinel AI preserves identity, source, risk, and evidence as each signal moves through the platform.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306000" y="1548000"/>
            <a:ext cx="1548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63600" y="16308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COLLECT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63600" y="17640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854000" y="1728000"/>
            <a:ext cx="306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2095200" y="1684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 flipV="1">
            <a:off x="2095200" y="1728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178000" y="1548000"/>
            <a:ext cx="1548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235600" y="16308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NORMALIZE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235600" y="17640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726000" y="1728000"/>
            <a:ext cx="306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3967200" y="1684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 flipV="1">
            <a:off x="3967200" y="1728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4050000" y="1548000"/>
            <a:ext cx="1548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107600" y="16308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DETECT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107600" y="17640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5598000" y="1728000"/>
            <a:ext cx="306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5839200" y="1684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 flipV="1">
            <a:off x="5839200" y="1728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922000" y="1548000"/>
            <a:ext cx="1548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979600" y="16308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PRIORITIZE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979600" y="17640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470000" y="1728000"/>
            <a:ext cx="306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711200" y="1684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 flipV="1">
            <a:off x="7711200" y="1728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794000" y="1548000"/>
            <a:ext cx="1548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851600" y="16308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PREDICT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851600" y="17640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9342000" y="1728000"/>
            <a:ext cx="306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9583200" y="1684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 flipV="1">
            <a:off x="9583200" y="1728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9666000" y="1548000"/>
            <a:ext cx="1548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9723600" y="16308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RESPOND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9723600" y="1764000"/>
            <a:ext cx="143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06000" y="2484000"/>
            <a:ext cx="11196000" cy="1116000"/>
          </a:xfrm>
          <a:prstGeom prst="roundRect">
            <a:avLst/>
          </a:prstGeom>
          <a:solidFill>
            <a:srgbClr val="10263A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68000" y="2646000"/>
            <a:ext cx="27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THE SENTINEL VALUE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68000" y="2916000"/>
            <a:ext cx="10476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7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Faster understanding  •  Explainable risk  •  Predictive context  •  Auditable response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68000" y="3330000"/>
            <a:ext cx="97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 single security event remains traceable across logs, alerts, detections, paths, incidents, notifications, and reports.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LIVE PROOF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 threat story judges can see end-to-end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current implementation turns repeated authentication failures into visible, persisted security outcomes.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06000" y="1260000"/>
            <a:ext cx="324000" cy="32400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20D6BD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67200" y="1350000"/>
            <a:ext cx="201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468000" y="1584000"/>
            <a:ext cx="0" cy="306000"/>
          </a:xfrm>
          <a:prstGeom prst="line">
            <a:avLst/>
          </a:prstGeom>
          <a:ln w="108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50400" rIns="95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74000" y="12888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LOGIN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74000" y="1476000"/>
            <a:ext cx="88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Success and failure events capture user, IP, user agent, status, and time.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306000" y="2304000"/>
            <a:ext cx="324000" cy="32400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FFB547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67200" y="2394000"/>
            <a:ext cx="201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468000" y="2628000"/>
            <a:ext cx="0" cy="306000"/>
          </a:xfrm>
          <a:prstGeom prst="line">
            <a:avLst/>
          </a:prstGeom>
          <a:ln w="108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50400" rIns="95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774000" y="23328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DETECT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74000" y="2520000"/>
            <a:ext cx="88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&gt;5 failures for the same username and IP inside five minutes.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306000" y="3348000"/>
            <a:ext cx="324000" cy="32400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FF536A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367200" y="3438000"/>
            <a:ext cx="201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68000" y="3672000"/>
            <a:ext cx="0" cy="306000"/>
          </a:xfrm>
          <a:prstGeom prst="line">
            <a:avLst/>
          </a:prstGeom>
          <a:ln w="108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50400" rIns="95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774000" y="33768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SCORE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774000" y="3564000"/>
            <a:ext cx="88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 transparent HIGH / 90 risk decision with behavior evidence.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06000" y="4392000"/>
            <a:ext cx="324000" cy="32400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48E0A4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67200" y="4482000"/>
            <a:ext cx="201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68000" y="4716000"/>
            <a:ext cx="0" cy="306000"/>
          </a:xfrm>
          <a:prstGeom prst="line">
            <a:avLst/>
          </a:prstGeom>
          <a:ln w="108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400" tIns="50400" rIns="95400" bIns="50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74000" y="44208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RESPOND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74000" y="4608000"/>
            <a:ext cx="88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Alert, threat, attack path, incident, notification, and report become visible.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9720000" y="1260000"/>
            <a:ext cx="1548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9763200" y="1290600"/>
            <a:ext cx="1461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IMPLEMENTED + 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SOC COMMAND CENTER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Built for the analyst's next decision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interface unifies monitoring, intelligence, detection, prediction, response, and reporting.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270000" y="1260000"/>
            <a:ext cx="3528000" cy="154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270000" y="1260000"/>
            <a:ext cx="23400" cy="154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399600" y="13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CAPABILITY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399600" y="154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LIVE MONITORING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99600" y="181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Authentication timeline, filters, status, device and source context.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4158000" y="1260000"/>
            <a:ext cx="3528000" cy="154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4158000" y="1260000"/>
            <a:ext cx="23400" cy="154800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287600" y="13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CAPABILITY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4287600" y="154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THREAT INTELLIGENCE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4287600" y="181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Suspicious IPs, threat types, risk levels, and enrichment.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8046000" y="1260000"/>
            <a:ext cx="3528000" cy="154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8046000" y="1260000"/>
            <a:ext cx="23400" cy="15480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8175600" y="13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CAPABILITY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8175600" y="154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AI DETECTION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8175600" y="181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Risk score, confidence, and explainable behavior analysis.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270000" y="3096000"/>
            <a:ext cx="3528000" cy="154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270000" y="3096000"/>
            <a:ext cx="23400" cy="154800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399600" y="3204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CAPABILITY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399600" y="3384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ATTACK GRAPH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399600" y="3654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Possible progression from entry point to sensitive asset.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4158000" y="3096000"/>
            <a:ext cx="3528000" cy="154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4158000" y="3096000"/>
            <a:ext cx="23400" cy="154800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287600" y="3204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CAPABILITY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287600" y="3384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SOAR RESPONSE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4287600" y="3654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Incident workflow, notifications, and defensive action state.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8046000" y="3096000"/>
            <a:ext cx="3528000" cy="154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8046000" y="3096000"/>
            <a:ext cx="23400" cy="154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175600" y="3204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CAPABILITY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8175600" y="3384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REPORTING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8175600" y="3654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Live summary, archives, JSON and CSV exports.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ARCHITECTURE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Modular by design. Integrated by a central security plane.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Nine independently runnable phases keep domain ownership while the central API coordinates identity, data, and operations.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288000" y="1296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81600" y="1386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381600" y="1602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Foundation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2772000" y="1296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2865600" y="1386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2865600" y="1602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SOC UI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5256000" y="1296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349600" y="1386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349600" y="1602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Threat Intel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288000" y="2232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81600" y="2322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381600" y="2538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AI Detection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2772000" y="2232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865600" y="2322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865600" y="2538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Attack Paths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5256000" y="2232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349600" y="2322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5349600" y="2538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SOAR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288000" y="3168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381600" y="3258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81600" y="3474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Integrations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2772000" y="3168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865600" y="3258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2865600" y="3474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Operations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5256000" y="3168000"/>
            <a:ext cx="2196000" cy="6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5349600" y="3258000"/>
            <a:ext cx="32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P9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5349600" y="3474000"/>
            <a:ext cx="194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AI Hunting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8136000" y="1296000"/>
            <a:ext cx="3528000" cy="2556000"/>
          </a:xfrm>
          <a:prstGeom prst="roundRect">
            <a:avLst/>
          </a:prstGeom>
          <a:solidFill>
            <a:srgbClr val="10263A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8316000" y="1476000"/>
            <a:ext cx="1296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8359200" y="1506600"/>
            <a:ext cx="1209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CENTRAL SECURITY PLANE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8316000" y="1836000"/>
            <a:ext cx="2988000" cy="43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0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FastAPI Gateway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8316000" y="2232000"/>
            <a:ext cx="2880000" cy="95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Authentication + APIs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Detection orchestration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Health + topology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Fault-tolerant aggregation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PostgreSQL persistence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8316000" y="3348000"/>
            <a:ext cx="792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8359200" y="3378600"/>
            <a:ext cx="705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REACT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9216000" y="3348000"/>
            <a:ext cx="936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9259200" y="3378600"/>
            <a:ext cx="849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POSTGRESQL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10260000" y="3348000"/>
            <a:ext cx="864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0303200" y="3378600"/>
            <a:ext cx="777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DOCKER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SECURITY BY DESIGN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The platform protects its own trust boundary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Production-minded controls are implemented around identity, secrets, persistence, and defensive automation.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288000" y="1260000"/>
            <a:ext cx="5508000" cy="102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288000" y="1260000"/>
            <a:ext cx="23400" cy="1026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417600" y="136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CONTROL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417600" y="154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PBKDF2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417600" y="1818000"/>
            <a:ext cx="527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600,000 password-hashing iterations with a per-user salt.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6156000" y="1260000"/>
            <a:ext cx="5508000" cy="102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6156000" y="1260000"/>
            <a:ext cx="23400" cy="102600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6285600" y="136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CONTROL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6285600" y="154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TOKEN SAFETY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6285600" y="1818000"/>
            <a:ext cx="527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Random bearer tokens; only SHA-256 digests persist.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288000" y="2520000"/>
            <a:ext cx="5508000" cy="102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288000" y="2520000"/>
            <a:ext cx="23400" cy="1026000"/>
          </a:xfrm>
          <a:prstGeom prst="rect">
            <a:avLst/>
          </a:prstGeom>
          <a:solidFill>
            <a:srgbClr val="A979FF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417600" y="262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CONTROL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417600" y="280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EXPIRY + LOGOUT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417600" y="3078000"/>
            <a:ext cx="527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Expiring sessions and explicit server-side revocation.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6156000" y="2520000"/>
            <a:ext cx="5508000" cy="102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6156000" y="2520000"/>
            <a:ext cx="23400" cy="102600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6285600" y="262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CONTROL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6285600" y="280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SECRET HYGIENE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6285600" y="3078000"/>
            <a:ext cx="527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Credentials supplied through environment configuration.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288000" y="3780000"/>
            <a:ext cx="5508000" cy="102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288000" y="3780000"/>
            <a:ext cx="23400" cy="10260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417600" y="388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CONTROL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417600" y="406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SAFE MIGRATION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417600" y="4338000"/>
            <a:ext cx="527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Additive initialization preserves existing users and data.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6156000" y="3780000"/>
            <a:ext cx="5508000" cy="102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6156000" y="3780000"/>
            <a:ext cx="23400" cy="102600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6285600" y="388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CONTROL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285600" y="4068000"/>
            <a:ext cx="52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AUDITABILITY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6285600" y="4338000"/>
            <a:ext cx="527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Success, failure, IP, user agent, reason, and time recorded.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DETECTION ENGINE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Explainable detection before opaque automation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Deterministic rules provide a testable baseline; AI modules extend analysis without hiding the evidence.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288000" y="1404000"/>
            <a:ext cx="2340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381600" y="1512000"/>
            <a:ext cx="2152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10 / 100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381600" y="1846800"/>
            <a:ext cx="215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NORMAL ACTIVITY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381600" y="2034000"/>
            <a:ext cx="2152800" cy="1260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2844000" y="1404000"/>
            <a:ext cx="2340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2937600" y="1512000"/>
            <a:ext cx="2152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35–55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2937600" y="1846800"/>
            <a:ext cx="215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SUSPICIOUS PATTERN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2937600" y="2034000"/>
            <a:ext cx="2152800" cy="126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5400000" y="1404000"/>
            <a:ext cx="2340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5493600" y="1512000"/>
            <a:ext cx="2152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90 / 100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5493600" y="1846800"/>
            <a:ext cx="2152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BRUTE FORCE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5493600" y="2034000"/>
            <a:ext cx="2152800" cy="1260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8100000" y="1404000"/>
            <a:ext cx="3528000" cy="2268000"/>
          </a:xfrm>
          <a:prstGeom prst="roundRect">
            <a:avLst/>
          </a:prstGeom>
          <a:solidFill>
            <a:srgbClr val="10263A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8316000" y="1602000"/>
            <a:ext cx="306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WHY THIS SCORE?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8316000" y="1908000"/>
            <a:ext cx="3060000" cy="64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6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Every decision keeps its evidence trail.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8316000" y="2412000"/>
            <a:ext cx="2952000" cy="112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username and identity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source IP activity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attempt frequency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five-minute window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distinct usernames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failure reason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288000" y="4032000"/>
            <a:ext cx="10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CURRENT VERIFIED RULE: same username + same IP + more than five failed attempts + five-minute window.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DETECTION COVERAGE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Honest coverage today. Extensible coverage tomorrow.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Sentinel AI does not claim to detect every attack; it provides a modular path to broader evidence-based detection.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288000" y="1260000"/>
            <a:ext cx="3780000" cy="367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468000" y="1458000"/>
            <a:ext cx="1296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11200" y="1488600"/>
            <a:ext cx="1209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IMPLEMENTED + 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468000" y="1872000"/>
            <a:ext cx="32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Authentication threats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468000" y="2340000"/>
            <a:ext cx="3132000" cy="1297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brute-force login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repeated failed attempts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suspicious login frequency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multiple usernames from one IP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identity/IP risk scoring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active-alert deduplication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• threat and incident promotion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4374000" y="1260000"/>
            <a:ext cx="7164000" cy="367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4554000" y="1458000"/>
            <a:ext cx="1008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4597200" y="1488600"/>
            <a:ext cx="921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ROADMAP MODULES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4554000" y="1944000"/>
            <a:ext cx="2016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WEB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4554000" y="2232000"/>
            <a:ext cx="1980000" cy="112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SQL injection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XSS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command injection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path traversal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SSRF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malicious upload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6804000" y="1944000"/>
            <a:ext cx="2016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IDENTITY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6804000" y="2232000"/>
            <a:ext cx="1980000" cy="95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credential stuffing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password spraying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session anomalies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impossible travel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new device/location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9054000" y="1944000"/>
            <a:ext cx="2016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NETWORK + ENDPOINT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9054000" y="2232000"/>
            <a:ext cx="1980000" cy="1125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port scanning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DDoS indicators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DNS tunneling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lateral movement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ransomware behavior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C2 activity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4554000" y="4464000"/>
            <a:ext cx="64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ROADMAP ≠ CURRENT CLAIM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WEB ATTACK ROADMAP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 safe blueprint for web-attack detection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Sanitized server/WAF telemetry can extend the existing event pipeline without storing secrets or raw credentials.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252000" y="1404000"/>
            <a:ext cx="1584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309600" y="14868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WEB / WAF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309600" y="16200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sanitized event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1836000" y="1584000"/>
            <a:ext cx="234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2005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 flipV="1">
            <a:off x="2005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2070000" y="1404000"/>
            <a:ext cx="1584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2127600" y="14868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INGEST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2127600" y="16200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validate schema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3654000" y="1584000"/>
            <a:ext cx="234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3823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 flipV="1">
            <a:off x="3823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3888000" y="1404000"/>
            <a:ext cx="1584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945600" y="14868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DETECT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3945600" y="16200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rules + behavior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5472000" y="1584000"/>
            <a:ext cx="234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5641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 flipV="1">
            <a:off x="5641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5706000" y="1404000"/>
            <a:ext cx="1584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5763600" y="14868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SCORE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5763600" y="16200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confidence + risk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7290000" y="1584000"/>
            <a:ext cx="234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7459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 flipV="1">
            <a:off x="7459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7524000" y="1404000"/>
            <a:ext cx="1584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7581600" y="14868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ALERT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581600" y="16200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evidence record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9108000" y="1584000"/>
            <a:ext cx="234000" cy="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9277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 flipV="1">
            <a:off x="9277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9342000" y="1404000"/>
            <a:ext cx="1584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9399600" y="14868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RESPOND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9399600" y="1620000"/>
            <a:ext cx="146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approved action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288000" y="2484000"/>
            <a:ext cx="3564000" cy="208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288000" y="2484000"/>
            <a:ext cx="23400" cy="208800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417600" y="2592000"/>
            <a:ext cx="3340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SQL INJECTION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417600" y="2772000"/>
            <a:ext cx="3340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Proposed signals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417600" y="3042000"/>
            <a:ext cx="3330000" cy="55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SQL operator anomalies, UNION patterns, comment markers, encoded payload attempts, database error bursts, abnormal parameter lengths.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4284000" y="2484000"/>
            <a:ext cx="3564000" cy="208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4284000" y="2484000"/>
            <a:ext cx="23400" cy="20880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413600" y="2592000"/>
            <a:ext cx="3340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CROSS-SITE SCRIPTING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4413600" y="2772000"/>
            <a:ext cx="3340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Proposed signals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4413600" y="3042000"/>
            <a:ext cx="3330000" cy="55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Script/event-handler patterns, encoded markup, repeated payload families, CSP/WAF evidence, and response anomalies.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8280000" y="2484000"/>
            <a:ext cx="3564000" cy="2088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8280000" y="2484000"/>
            <a:ext cx="23400" cy="2088000"/>
          </a:xfrm>
          <a:prstGeom prst="rect">
            <a:avLst/>
          </a:prstGeom>
          <a:solidFill>
            <a:srgbClr val="A979FF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8409600" y="2592000"/>
            <a:ext cx="3340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OTHER WEB THREATS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8409600" y="2772000"/>
            <a:ext cx="3340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Proposed signals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8409600" y="3042000"/>
            <a:ext cx="3330000" cy="55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Traversal, command injection, SSRF, file inclusion, malicious upload, API abuse, XML-RPC abuse, and web-shell indicators.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AI + EXPLAINABILITY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AI augments evidence. It does not replace it.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Phase 4 extends transparent rules with bounded anomaly analysis, classification, and confidence scoring.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324000" y="1368000"/>
            <a:ext cx="2520000" cy="2520000"/>
          </a:xfrm>
          <a:prstGeom prst="ellipse">
            <a:avLst/>
          </a:prstGeom>
          <a:solidFill>
            <a:srgbClr val="0B1C2D"/>
          </a:solidFill>
          <a:ln w="16200">
            <a:solidFill>
              <a:srgbClr val="A979FF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810000" y="1854000"/>
            <a:ext cx="1548000" cy="154800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20D6BD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1080000" y="2286000"/>
            <a:ext cx="1008000" cy="573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28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AI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864000" y="27000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EXPLAINABLE CORE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3528000" y="1332000"/>
            <a:ext cx="3672000" cy="129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3528000" y="1332000"/>
            <a:ext cx="23400" cy="1296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3657600" y="1440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AI STAGE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3657600" y="1620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FEATURES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3657600" y="1890000"/>
            <a:ext cx="34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frequency • identity • IP • context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7560000" y="1332000"/>
            <a:ext cx="3672000" cy="129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7560000" y="1332000"/>
            <a:ext cx="23400" cy="129600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7689600" y="1440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AI STAGE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689600" y="1620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ANOMALY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7689600" y="1890000"/>
            <a:ext cx="34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deviation from known behavior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3528000" y="2880000"/>
            <a:ext cx="3672000" cy="129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3528000" y="2880000"/>
            <a:ext cx="23400" cy="1296000"/>
          </a:xfrm>
          <a:prstGeom prst="rect">
            <a:avLst/>
          </a:prstGeom>
          <a:solidFill>
            <a:srgbClr val="A979FF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3657600" y="2988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AI STAGE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3657600" y="3168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CLASSIFY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3657600" y="3438000"/>
            <a:ext cx="34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threat type + bounded severity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7560000" y="2880000"/>
            <a:ext cx="3672000" cy="129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7560000" y="2880000"/>
            <a:ext cx="23400" cy="129600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7689600" y="2988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AI STAGE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7689600" y="3168000"/>
            <a:ext cx="3448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EXPLAIN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7689600" y="3438000"/>
            <a:ext cx="3438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human-readable reason + evidence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3528000" y="4536000"/>
            <a:ext cx="79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2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Human-readable reasoning remains visible beside every score.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THREAT INTELLIGENCE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Detection becomes stronger when context travels with it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Sentinel AI's modular intelligence services normalize external evidence and correlate it with internal events.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306000" y="1368000"/>
            <a:ext cx="1800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363600" y="14508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IP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363600" y="15840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reputation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2556000" y="1368000"/>
            <a:ext cx="1800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2613600" y="14508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DOMAIN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2613600" y="15840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reputation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4806000" y="1368000"/>
            <a:ext cx="1800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4863600" y="14508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URL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4863600" y="15840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indicators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7056000" y="1368000"/>
            <a:ext cx="1800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7113600" y="14508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HASH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7113600" y="15840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malware IOC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9306000" y="1368000"/>
            <a:ext cx="1800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363600" y="14508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CVE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363600" y="1584000"/>
            <a:ext cx="168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exposure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2232000" y="2196000"/>
            <a:ext cx="7560000" cy="0"/>
          </a:xfrm>
          <a:prstGeom prst="line">
            <a:avLst/>
          </a:prstGeom>
          <a:ln w="162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9727200" y="2152800"/>
            <a:ext cx="64800" cy="43200"/>
          </a:xfrm>
          <a:prstGeom prst="line">
            <a:avLst/>
          </a:prstGeom>
          <a:ln w="162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 flipV="1">
            <a:off x="9727200" y="2196000"/>
            <a:ext cx="64800" cy="43200"/>
          </a:xfrm>
          <a:prstGeom prst="line">
            <a:avLst/>
          </a:prstGeom>
          <a:ln w="162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3492000" y="2520000"/>
            <a:ext cx="5220000" cy="1188000"/>
          </a:xfrm>
          <a:prstGeom prst="roundRect">
            <a:avLst/>
          </a:prstGeom>
          <a:solidFill>
            <a:srgbClr val="10263A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3708000" y="2718000"/>
            <a:ext cx="47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7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NORMALIZE  →  CORRELATE  →  ENRICH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3708000" y="3078000"/>
            <a:ext cx="4788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IOC matching • reputation context • CVE intelligence • MITRE mapping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3852000" y="4068000"/>
            <a:ext cx="1116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3895200" y="4098600"/>
            <a:ext cx="1029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EVIDENCE-LED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5148000" y="4068000"/>
            <a:ext cx="1260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5191200" y="4098600"/>
            <a:ext cx="1173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FEED-AWARE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6588000" y="4068000"/>
            <a:ext cx="1476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6631200" y="4098600"/>
            <a:ext cx="1389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FAULT TOLERANT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ATTACK PREDICTION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Show what could happen next—not only what happened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Attack-path context helps analysts connect an entry signal to possible privilege and asset exposure.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306000" y="1728000"/>
            <a:ext cx="1872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363600" y="18108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FAILED LOGINS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363600" y="19440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STAGE 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2178000" y="1908000"/>
            <a:ext cx="324000" cy="0"/>
          </a:xfrm>
          <a:prstGeom prst="line">
            <a:avLst/>
          </a:prstGeom>
          <a:ln w="16200">
            <a:solidFill>
              <a:srgbClr val="FF53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2437200" y="1864800"/>
            <a:ext cx="64800" cy="43200"/>
          </a:xfrm>
          <a:prstGeom prst="line">
            <a:avLst/>
          </a:prstGeom>
          <a:ln w="16200">
            <a:solidFill>
              <a:srgbClr val="FF53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 flipV="1">
            <a:off x="2437200" y="1908000"/>
            <a:ext cx="64800" cy="43200"/>
          </a:xfrm>
          <a:prstGeom prst="line">
            <a:avLst/>
          </a:prstGeom>
          <a:ln w="16200">
            <a:solidFill>
              <a:srgbClr val="FF53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2520000" y="1728000"/>
            <a:ext cx="1872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577600" y="18108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ACCOUNT RISK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2577600" y="19440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STAGE 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4392000" y="1908000"/>
            <a:ext cx="324000" cy="0"/>
          </a:xfrm>
          <a:prstGeom prst="line">
            <a:avLst/>
          </a:prstGeom>
          <a:ln w="16200">
            <a:solidFill>
              <a:srgbClr val="FFB5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4651200" y="1864800"/>
            <a:ext cx="64800" cy="43200"/>
          </a:xfrm>
          <a:prstGeom prst="line">
            <a:avLst/>
          </a:prstGeom>
          <a:ln w="16200">
            <a:solidFill>
              <a:srgbClr val="FFB5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 flipV="1">
            <a:off x="4651200" y="1908000"/>
            <a:ext cx="64800" cy="43200"/>
          </a:xfrm>
          <a:prstGeom prst="line">
            <a:avLst/>
          </a:prstGeom>
          <a:ln w="16200">
            <a:solidFill>
              <a:srgbClr val="FFB5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4734000" y="1728000"/>
            <a:ext cx="1872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4791600" y="18108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PRIVILEGE RISK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4791600" y="19440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STAGE 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6606000" y="1908000"/>
            <a:ext cx="324000" cy="0"/>
          </a:xfrm>
          <a:prstGeom prst="line">
            <a:avLst/>
          </a:prstGeom>
          <a:ln w="16200">
            <a:solidFill>
              <a:srgbClr val="A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6865200" y="1864800"/>
            <a:ext cx="64800" cy="43200"/>
          </a:xfrm>
          <a:prstGeom prst="line">
            <a:avLst/>
          </a:prstGeom>
          <a:ln w="16200">
            <a:solidFill>
              <a:srgbClr val="A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 flipV="1">
            <a:off x="6865200" y="1908000"/>
            <a:ext cx="64800" cy="43200"/>
          </a:xfrm>
          <a:prstGeom prst="line">
            <a:avLst/>
          </a:prstGeom>
          <a:ln w="16200">
            <a:solidFill>
              <a:srgbClr val="A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6948000" y="1728000"/>
            <a:ext cx="1872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7005600" y="18108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ASSET EXPOSURE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7005600" y="19440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STAGE 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8820000" y="1908000"/>
            <a:ext cx="324000" cy="0"/>
          </a:xfrm>
          <a:prstGeom prst="line">
            <a:avLst/>
          </a:prstGeom>
          <a:ln w="162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/>
          <p:nvPr/>
        </p:nvSpPr>
        <p:spPr>
          <a:xfrm>
            <a:off x="9079200" y="1864800"/>
            <a:ext cx="64800" cy="43200"/>
          </a:xfrm>
          <a:prstGeom prst="line">
            <a:avLst/>
          </a:prstGeom>
          <a:ln w="162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 flipV="1">
            <a:off x="9079200" y="1908000"/>
            <a:ext cx="64800" cy="43200"/>
          </a:xfrm>
          <a:prstGeom prst="line">
            <a:avLst/>
          </a:prstGeom>
          <a:ln w="162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9720" rIns="9792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9162000" y="1728000"/>
            <a:ext cx="1872000" cy="3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9219600" y="18108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INCIDENT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9219600" y="1944000"/>
            <a:ext cx="175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STAGE 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306000" y="2664000"/>
            <a:ext cx="10728000" cy="126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486000" y="2844000"/>
            <a:ext cx="295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ANALYST VALUE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486000" y="3150000"/>
            <a:ext cx="100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Source identity  •  Possible progression  •  Risk propagation  •  Defensive recommendation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486000" y="3528000"/>
            <a:ext cx="99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Prediction is presented as bounded context—not certainty—and remains linked to the originating evidence.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SOAR RESPONSE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Automate the workflow. Keep control of the action.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Sentinel AI records, prioritizes, and coordinates defensive response without blindly executing disruptive changes.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"/>
          <p:cNvSpPr/>
          <p:nvPr/>
        </p:nvSpPr>
        <p:spPr>
          <a:xfrm>
            <a:off x="288000" y="1260000"/>
            <a:ext cx="3528000" cy="133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288000" y="1260000"/>
            <a:ext cx="23400" cy="1332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417600" y="13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WORKFLOW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417600" y="154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CREATE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417600" y="181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incident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4176000" y="1260000"/>
            <a:ext cx="3528000" cy="133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4176000" y="1260000"/>
            <a:ext cx="23400" cy="13320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4305600" y="13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WORKFLOW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4305600" y="154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PRIORITIZE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4305600" y="181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severity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"/>
          <p:cNvSpPr/>
          <p:nvPr/>
        </p:nvSpPr>
        <p:spPr>
          <a:xfrm>
            <a:off x="8064000" y="1260000"/>
            <a:ext cx="3528000" cy="133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"/>
          <p:cNvSpPr/>
          <p:nvPr/>
        </p:nvSpPr>
        <p:spPr>
          <a:xfrm>
            <a:off x="8064000" y="1260000"/>
            <a:ext cx="23400" cy="133200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8193600" y="13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WORKFLOW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8193600" y="154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NOTIFY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8193600" y="181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administrator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288000" y="2880000"/>
            <a:ext cx="3528000" cy="133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288000" y="2880000"/>
            <a:ext cx="23400" cy="1332000"/>
          </a:xfrm>
          <a:prstGeom prst="rect">
            <a:avLst/>
          </a:prstGeom>
          <a:solidFill>
            <a:srgbClr val="A979FF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417600" y="298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WORKFLOW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417600" y="31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PREPARE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417600" y="343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containment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"/>
          <p:cNvSpPr/>
          <p:nvPr/>
        </p:nvSpPr>
        <p:spPr>
          <a:xfrm>
            <a:off x="4176000" y="2880000"/>
            <a:ext cx="3528000" cy="133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"/>
          <p:cNvSpPr/>
          <p:nvPr/>
        </p:nvSpPr>
        <p:spPr>
          <a:xfrm>
            <a:off x="4176000" y="2880000"/>
            <a:ext cx="23400" cy="133200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4305600" y="298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WORKFLOW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4305600" y="31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APPROVE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4305600" y="343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disruptive action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"/>
          <p:cNvSpPr/>
          <p:nvPr/>
        </p:nvSpPr>
        <p:spPr>
          <a:xfrm>
            <a:off x="8064000" y="2880000"/>
            <a:ext cx="3528000" cy="1332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8064000" y="2880000"/>
            <a:ext cx="23400" cy="133200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8193600" y="298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WORKFLOW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8193600" y="3168000"/>
            <a:ext cx="330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AUDIT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8193600" y="3438000"/>
            <a:ext cx="329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outcome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"/>
          <p:cNvSpPr/>
          <p:nvPr/>
        </p:nvSpPr>
        <p:spPr>
          <a:xfrm>
            <a:off x="288000" y="4716000"/>
            <a:ext cx="1836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FF536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331200" y="4746600"/>
            <a:ext cx="1749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HUMAN APPROVAL BOUNDARY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2340000" y="4716000"/>
            <a:ext cx="90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Account locks, IP blocks, and other business-impacting actions require authorization.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REPORTING + DATA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Security posture that is measurable and exportable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Live summaries and generated reports reuse existing PostgreSQL evidence—without duplicate security tables.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"/>
          <p:cNvSpPr/>
          <p:nvPr/>
        </p:nvSpPr>
        <p:spPr>
          <a:xfrm>
            <a:off x="288000" y="1296000"/>
            <a:ext cx="2124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381600" y="1404000"/>
            <a:ext cx="1936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LOGIN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381600" y="1738800"/>
            <a:ext cx="193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TOTAL ATTEMPTS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"/>
          <p:cNvSpPr/>
          <p:nvPr/>
        </p:nvSpPr>
        <p:spPr>
          <a:xfrm>
            <a:off x="381600" y="1926000"/>
            <a:ext cx="1936800" cy="126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"/>
          <p:cNvSpPr/>
          <p:nvPr/>
        </p:nvSpPr>
        <p:spPr>
          <a:xfrm>
            <a:off x="2592000" y="1296000"/>
            <a:ext cx="2124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2685600" y="1404000"/>
            <a:ext cx="1936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SUCCESS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"/>
          <p:cNvSpPr txBox="1"/>
          <p:nvPr/>
        </p:nvSpPr>
        <p:spPr>
          <a:xfrm>
            <a:off x="2685600" y="1738800"/>
            <a:ext cx="193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AUTHENTICATED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2685600" y="1926000"/>
            <a:ext cx="1936800" cy="1260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"/>
          <p:cNvSpPr/>
          <p:nvPr/>
        </p:nvSpPr>
        <p:spPr>
          <a:xfrm>
            <a:off x="4896000" y="1296000"/>
            <a:ext cx="2124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4989600" y="1404000"/>
            <a:ext cx="1936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FAILED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4989600" y="1738800"/>
            <a:ext cx="193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DENIED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"/>
          <p:cNvSpPr/>
          <p:nvPr/>
        </p:nvSpPr>
        <p:spPr>
          <a:xfrm>
            <a:off x="4989600" y="1926000"/>
            <a:ext cx="1936800" cy="1260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"/>
          <p:cNvSpPr/>
          <p:nvPr/>
        </p:nvSpPr>
        <p:spPr>
          <a:xfrm>
            <a:off x="7200000" y="1296000"/>
            <a:ext cx="2124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7293600" y="1404000"/>
            <a:ext cx="1936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ALERTS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7293600" y="1738800"/>
            <a:ext cx="193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ACTIVE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"/>
          <p:cNvSpPr/>
          <p:nvPr/>
        </p:nvSpPr>
        <p:spPr>
          <a:xfrm>
            <a:off x="7293600" y="1926000"/>
            <a:ext cx="1936800" cy="126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"/>
          <p:cNvSpPr/>
          <p:nvPr/>
        </p:nvSpPr>
        <p:spPr>
          <a:xfrm>
            <a:off x="9504000" y="1296000"/>
            <a:ext cx="2124000" cy="756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9597600" y="1404000"/>
            <a:ext cx="19368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RISK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9597600" y="1738800"/>
            <a:ext cx="1936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LOW–HIGH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9597600" y="1926000"/>
            <a:ext cx="1936800" cy="12600"/>
          </a:xfrm>
          <a:prstGeom prst="rect">
            <a:avLst/>
          </a:prstGeom>
          <a:solidFill>
            <a:srgbClr val="A979FF"/>
          </a:solidFill>
          <a:ln w="10080">
            <a:solidFill>
              <a:srgbClr val="A979FF"/>
            </a:solidFill>
            <a:round/>
          </a:ln>
        </p:spPr>
        <p:txBody>
          <a:bodyPr lIns="95040" tIns="-37440" rIns="95040" bIns="-374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"/>
          <p:cNvSpPr/>
          <p:nvPr/>
        </p:nvSpPr>
        <p:spPr>
          <a:xfrm>
            <a:off x="288000" y="2412000"/>
            <a:ext cx="11124000" cy="1584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486000" y="25920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REPORT CENTER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486000" y="2880000"/>
            <a:ext cx="100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6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Daily Security  •  Threat Analysis  •  Incident Report  •  Archive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486000" y="3276000"/>
            <a:ext cx="972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Authenticated API  →  PostgreSQL evidence  →  live cards  →  JSON / CSV exports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"/>
          <p:cNvSpPr/>
          <p:nvPr/>
        </p:nvSpPr>
        <p:spPr>
          <a:xfrm>
            <a:off x="486000" y="3636000"/>
            <a:ext cx="792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529200" y="3666600"/>
            <a:ext cx="705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JSON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"/>
          <p:cNvSpPr/>
          <p:nvPr/>
        </p:nvSpPr>
        <p:spPr>
          <a:xfrm>
            <a:off x="1404000" y="3636000"/>
            <a:ext cx="792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1447200" y="3666600"/>
            <a:ext cx="705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CSV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"/>
          <p:cNvSpPr/>
          <p:nvPr/>
        </p:nvSpPr>
        <p:spPr>
          <a:xfrm>
            <a:off x="2322000" y="3636000"/>
            <a:ext cx="1152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2365200" y="3666600"/>
            <a:ext cx="1065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AUDITABLE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ENGINEERING EVIDENCE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Validated as a working system—not a static concept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project includes executable services, persistence, protected APIs, a connected frontend, and repeatable tests.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"/>
          <p:cNvSpPr/>
          <p:nvPr/>
        </p:nvSpPr>
        <p:spPr>
          <a:xfrm>
            <a:off x="252000" y="1404000"/>
            <a:ext cx="2088000" cy="18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"/>
          <p:cNvSpPr/>
          <p:nvPr/>
        </p:nvSpPr>
        <p:spPr>
          <a:xfrm>
            <a:off x="252000" y="1404000"/>
            <a:ext cx="23400" cy="1800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381600" y="151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381600" y="169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BUILD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381600" y="1962000"/>
            <a:ext cx="185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React production bundle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"/>
          <p:cNvSpPr/>
          <p:nvPr/>
        </p:nvSpPr>
        <p:spPr>
          <a:xfrm>
            <a:off x="2592000" y="1404000"/>
            <a:ext cx="2088000" cy="18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"/>
          <p:cNvSpPr/>
          <p:nvPr/>
        </p:nvSpPr>
        <p:spPr>
          <a:xfrm>
            <a:off x="2592000" y="1404000"/>
            <a:ext cx="23400" cy="180000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2721600" y="151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2721600" y="169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COMPILE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2721600" y="1962000"/>
            <a:ext cx="185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FastAPI modules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"/>
          <p:cNvSpPr/>
          <p:nvPr/>
        </p:nvSpPr>
        <p:spPr>
          <a:xfrm>
            <a:off x="4932000" y="1404000"/>
            <a:ext cx="2088000" cy="18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"/>
          <p:cNvSpPr/>
          <p:nvPr/>
        </p:nvSpPr>
        <p:spPr>
          <a:xfrm>
            <a:off x="4932000" y="1404000"/>
            <a:ext cx="23400" cy="1800000"/>
          </a:xfrm>
          <a:prstGeom prst="rect">
            <a:avLst/>
          </a:prstGeom>
          <a:solidFill>
            <a:srgbClr val="A979FF"/>
          </a:solidFill>
          <a:ln w="10080">
            <a:solidFill>
              <a:srgbClr val="A979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"/>
          <p:cNvSpPr txBox="1"/>
          <p:nvPr/>
        </p:nvSpPr>
        <p:spPr>
          <a:xfrm>
            <a:off x="5061600" y="151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"/>
          <p:cNvSpPr txBox="1"/>
          <p:nvPr/>
        </p:nvSpPr>
        <p:spPr>
          <a:xfrm>
            <a:off x="5061600" y="169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5061600" y="1962000"/>
            <a:ext cx="185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report routes + summary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"/>
          <p:cNvSpPr/>
          <p:nvPr/>
        </p:nvSpPr>
        <p:spPr>
          <a:xfrm>
            <a:off x="7272000" y="1404000"/>
            <a:ext cx="2088000" cy="18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"/>
          <p:cNvSpPr/>
          <p:nvPr/>
        </p:nvSpPr>
        <p:spPr>
          <a:xfrm>
            <a:off x="7272000" y="1404000"/>
            <a:ext cx="23400" cy="180000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7401600" y="151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7401600" y="169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RUN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401600" y="1962000"/>
            <a:ext cx="185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Docker + PostgreSQL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"/>
          <p:cNvSpPr/>
          <p:nvPr/>
        </p:nvSpPr>
        <p:spPr>
          <a:xfrm>
            <a:off x="9612000" y="1404000"/>
            <a:ext cx="2088000" cy="18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"/>
          <p:cNvSpPr/>
          <p:nvPr/>
        </p:nvSpPr>
        <p:spPr>
          <a:xfrm>
            <a:off x="9612000" y="1404000"/>
            <a:ext cx="23400" cy="180000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9741600" y="151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9741600" y="1692000"/>
            <a:ext cx="18648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VERIFY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9741600" y="1962000"/>
            <a:ext cx="1854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authenticated 200 API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"/>
          <p:cNvSpPr/>
          <p:nvPr/>
        </p:nvSpPr>
        <p:spPr>
          <a:xfrm>
            <a:off x="252000" y="3672000"/>
            <a:ext cx="11448000" cy="828000"/>
          </a:xfrm>
          <a:prstGeom prst="roundRect">
            <a:avLst/>
          </a:prstGeom>
          <a:solidFill>
            <a:srgbClr val="10263A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432000" y="3852000"/>
            <a:ext cx="10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DEMO SUCCESS CRITERIA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432000" y="4104000"/>
            <a:ext cx="10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2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Failed login → six attempts → HIGH alert → risk → attack path → notification →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252000" y="4932000"/>
            <a:ext cx="10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No invented customer metrics. No unsupported accuracy claims. Every claim maps to code, API, database, or roadmap.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ROADMAP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252000" y="450000"/>
            <a:ext cx="10980000" cy="52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 deliberate path from working prototype to broader defense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255600" y="820800"/>
            <a:ext cx="10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Expand evidence sources and detections without rewriting the central architecture.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"/>
          <p:cNvSpPr/>
          <p:nvPr/>
        </p:nvSpPr>
        <p:spPr>
          <a:xfrm>
            <a:off x="288000" y="1404000"/>
            <a:ext cx="3528000" cy="27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"/>
          <p:cNvSpPr/>
          <p:nvPr/>
        </p:nvSpPr>
        <p:spPr>
          <a:xfrm>
            <a:off x="468000" y="1584000"/>
            <a:ext cx="684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511200" y="1614600"/>
            <a:ext cx="597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NOW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468000" y="2052000"/>
            <a:ext cx="306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HARDEN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"/>
          <p:cNvSpPr txBox="1"/>
          <p:nvPr/>
        </p:nvSpPr>
        <p:spPr>
          <a:xfrm>
            <a:off x="468000" y="2520000"/>
            <a:ext cx="3060000" cy="47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RBAC • streaming • tests • observability • deployment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"/>
          <p:cNvSpPr/>
          <p:nvPr/>
        </p:nvSpPr>
        <p:spPr>
          <a:xfrm>
            <a:off x="1872000" y="4428000"/>
            <a:ext cx="216000" cy="216000"/>
          </a:xfrm>
          <a:prstGeom prst="ellipse">
            <a:avLst/>
          </a:prstGeom>
          <a:solidFill>
            <a:srgbClr val="20D6BD"/>
          </a:solidFill>
          <a:ln w="16200">
            <a:solidFill>
              <a:srgbClr val="20D6BD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"/>
          <p:cNvSpPr/>
          <p:nvPr/>
        </p:nvSpPr>
        <p:spPr>
          <a:xfrm>
            <a:off x="4176000" y="1404000"/>
            <a:ext cx="3528000" cy="27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"/>
          <p:cNvSpPr/>
          <p:nvPr/>
        </p:nvSpPr>
        <p:spPr>
          <a:xfrm>
            <a:off x="4356000" y="1584000"/>
            <a:ext cx="684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4399200" y="1614600"/>
            <a:ext cx="597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NEXT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4356000" y="2052000"/>
            <a:ext cx="306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EXPAND WEB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4356000" y="2520000"/>
            <a:ext cx="3060000" cy="47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WordPress telemetry • SQLi • XSS • traversal • API abuse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"/>
          <p:cNvSpPr/>
          <p:nvPr/>
        </p:nvSpPr>
        <p:spPr>
          <a:xfrm>
            <a:off x="5760000" y="4428000"/>
            <a:ext cx="216000" cy="216000"/>
          </a:xfrm>
          <a:prstGeom prst="ellipse">
            <a:avLst/>
          </a:prstGeom>
          <a:solidFill>
            <a:srgbClr val="4A9CFF"/>
          </a:solidFill>
          <a:ln w="16200">
            <a:solidFill>
              <a:srgbClr val="4A9CFF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"/>
          <p:cNvSpPr/>
          <p:nvPr/>
        </p:nvSpPr>
        <p:spPr>
          <a:xfrm>
            <a:off x="8064000" y="1404000"/>
            <a:ext cx="3528000" cy="27000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8" name=""/>
          <p:cNvSpPr/>
          <p:nvPr/>
        </p:nvSpPr>
        <p:spPr>
          <a:xfrm>
            <a:off x="8244000" y="1584000"/>
            <a:ext cx="684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8287200" y="1614600"/>
            <a:ext cx="597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SCALE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8244000" y="2052000"/>
            <a:ext cx="306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ENTERPRISE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8244000" y="2520000"/>
            <a:ext cx="3060000" cy="47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IDS/EDR • multi-tenancy • HA • compliance • collaboration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"/>
          <p:cNvSpPr/>
          <p:nvPr/>
        </p:nvSpPr>
        <p:spPr>
          <a:xfrm>
            <a:off x="9648000" y="4428000"/>
            <a:ext cx="216000" cy="216000"/>
          </a:xfrm>
          <a:prstGeom prst="ellipse">
            <a:avLst/>
          </a:prstGeom>
          <a:solidFill>
            <a:srgbClr val="48E0A4"/>
          </a:solidFill>
          <a:ln w="16200">
            <a:solidFill>
              <a:srgbClr val="48E0A4"/>
            </a:solidFill>
            <a:round/>
          </a:ln>
        </p:spPr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"/>
          <p:cNvSpPr/>
          <p:nvPr/>
        </p:nvSpPr>
        <p:spPr>
          <a:xfrm>
            <a:off x="1872000" y="4536000"/>
            <a:ext cx="7848000" cy="0"/>
          </a:xfrm>
          <a:prstGeom prst="line">
            <a:avLst/>
          </a:prstGeom>
          <a:ln w="126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"/>
          <p:cNvSpPr/>
          <p:nvPr/>
        </p:nvSpPr>
        <p:spPr>
          <a:xfrm>
            <a:off x="79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"/>
          <p:cNvSpPr/>
          <p:nvPr/>
        </p:nvSpPr>
        <p:spPr>
          <a:xfrm>
            <a:off x="158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"/>
          <p:cNvSpPr/>
          <p:nvPr/>
        </p:nvSpPr>
        <p:spPr>
          <a:xfrm>
            <a:off x="237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"/>
          <p:cNvSpPr/>
          <p:nvPr/>
        </p:nvSpPr>
        <p:spPr>
          <a:xfrm>
            <a:off x="316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"/>
          <p:cNvSpPr/>
          <p:nvPr/>
        </p:nvSpPr>
        <p:spPr>
          <a:xfrm>
            <a:off x="396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"/>
          <p:cNvSpPr/>
          <p:nvPr/>
        </p:nvSpPr>
        <p:spPr>
          <a:xfrm>
            <a:off x="475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"/>
          <p:cNvSpPr/>
          <p:nvPr/>
        </p:nvSpPr>
        <p:spPr>
          <a:xfrm>
            <a:off x="554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"/>
          <p:cNvSpPr/>
          <p:nvPr/>
        </p:nvSpPr>
        <p:spPr>
          <a:xfrm>
            <a:off x="633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"/>
          <p:cNvSpPr/>
          <p:nvPr/>
        </p:nvSpPr>
        <p:spPr>
          <a:xfrm>
            <a:off x="792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"/>
          <p:cNvSpPr/>
          <p:nvPr/>
        </p:nvSpPr>
        <p:spPr>
          <a:xfrm>
            <a:off x="8712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"/>
          <p:cNvSpPr/>
          <p:nvPr/>
        </p:nvSpPr>
        <p:spPr>
          <a:xfrm>
            <a:off x="9504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"/>
          <p:cNvSpPr/>
          <p:nvPr/>
        </p:nvSpPr>
        <p:spPr>
          <a:xfrm>
            <a:off x="10296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"/>
          <p:cNvSpPr/>
          <p:nvPr/>
        </p:nvSpPr>
        <p:spPr>
          <a:xfrm>
            <a:off x="11088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"/>
          <p:cNvSpPr/>
          <p:nvPr/>
        </p:nvSpPr>
        <p:spPr>
          <a:xfrm>
            <a:off x="11880000" y="0"/>
            <a:ext cx="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"/>
          <p:cNvSpPr/>
          <p:nvPr/>
        </p:nvSpPr>
        <p:spPr>
          <a:xfrm>
            <a:off x="0" y="79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"/>
          <p:cNvSpPr/>
          <p:nvPr/>
        </p:nvSpPr>
        <p:spPr>
          <a:xfrm>
            <a:off x="0" y="158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"/>
          <p:cNvSpPr/>
          <p:nvPr/>
        </p:nvSpPr>
        <p:spPr>
          <a:xfrm>
            <a:off x="0" y="237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"/>
          <p:cNvSpPr/>
          <p:nvPr/>
        </p:nvSpPr>
        <p:spPr>
          <a:xfrm>
            <a:off x="0" y="3168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"/>
          <p:cNvSpPr/>
          <p:nvPr/>
        </p:nvSpPr>
        <p:spPr>
          <a:xfrm>
            <a:off x="0" y="3960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"/>
          <p:cNvSpPr/>
          <p:nvPr/>
        </p:nvSpPr>
        <p:spPr>
          <a:xfrm>
            <a:off x="0" y="4752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"/>
          <p:cNvSpPr/>
          <p:nvPr/>
        </p:nvSpPr>
        <p:spPr>
          <a:xfrm>
            <a:off x="0" y="5544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"/>
          <p:cNvSpPr/>
          <p:nvPr/>
        </p:nvSpPr>
        <p:spPr>
          <a:xfrm>
            <a:off x="0" y="6336000"/>
            <a:ext cx="12192120" cy="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"/>
          <p:cNvSpPr/>
          <p:nvPr/>
        </p:nvSpPr>
        <p:spPr>
          <a:xfrm>
            <a:off x="79200" y="0"/>
            <a:ext cx="32400" cy="685800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252000" y="154800"/>
            <a:ext cx="151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10464120" y="154800"/>
            <a:ext cx="14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CLOSING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11742120" y="6606000"/>
            <a:ext cx="18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just"/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18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"/>
          <p:cNvSpPr/>
          <p:nvPr/>
        </p:nvSpPr>
        <p:spPr>
          <a:xfrm>
            <a:off x="273600" y="540000"/>
            <a:ext cx="792000" cy="187200"/>
          </a:xfrm>
          <a:prstGeom prst="roundRect">
            <a:avLst/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316800" y="570600"/>
            <a:ext cx="7056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THE MISSION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273600" y="1080000"/>
            <a:ext cx="7380000" cy="126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34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Turn every security signal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4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into a confident response.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280800" y="2304000"/>
            <a:ext cx="6552000" cy="538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3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Sentinel AI connects detection, understanding, prediction, and controlled response in one explainable SOC workflow.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"/>
          <p:cNvSpPr/>
          <p:nvPr/>
        </p:nvSpPr>
        <p:spPr>
          <a:xfrm>
            <a:off x="8388000" y="1044000"/>
            <a:ext cx="2592000" cy="2700000"/>
          </a:xfrm>
          <a:prstGeom prst="roundRect">
            <a:avLst/>
          </a:prstGeom>
          <a:solidFill>
            <a:srgbClr val="10263A"/>
          </a:solidFill>
          <a:ln w="10080">
            <a:solidFill>
              <a:srgbClr val="20D6BD"/>
            </a:solidFill>
            <a:round/>
          </a:ln>
        </p:spPr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8784000" y="13320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1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DETECT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9468000" y="1566000"/>
            <a:ext cx="4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600" b="1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8784000" y="19080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1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UNDERSTAND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9468000" y="2142000"/>
            <a:ext cx="4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600" b="1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8784000" y="24840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1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PREDICT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9468000" y="2718000"/>
            <a:ext cx="432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600" b="1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8784000" y="3060000"/>
            <a:ext cx="180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r"/>
            <a:r>
              <a:rPr lang="en-US" sz="11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RESPOND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273600" y="6174000"/>
            <a:ext cx="59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DETECT  •  UNDERSTAND  •  PREDICT  •  RESPOND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273600" y="6426000"/>
            <a:ext cx="324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r>
              <a:rPr lang="en-US" sz="12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Thank you  /  Questions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2026-07-19T20:44:15Z</dcterms:created>
  <dc:creator/>
  <dc:description/>
  <dc:language>en-US</dc:language>
  <cp:lastModifiedBy/>
  <dcterms:modified xsi:type="dcterms:W3CDTF">2026-07-19T20:44:26Z</dcterms:modified>
  <cp:revision>1</cp:revision>
  <dc:subject/>
  <dc:title/>
</cp:coreProperties>
</file>